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7f024c8-f20f-72a6-a07d-e30e5cc1767c}">
          <p14:sldIdLst>
            <p14:sldId id="256"/>
          </p14:sldIdLst>
        </p14:section>
        <p14:section name="Problem" id="{16c8bb3a-469a-7965-c722-b07ad8914fbe}">
          <p14:sldIdLst>
            <p14:sldId id="257"/>
          </p14:sldIdLst>
        </p14:section>
        <p14:section name="Solution" id="{1045bf8d-c200-8273-d06e-bbfdc72150eb}">
          <p14:sldIdLst>
            <p14:sldId id="258"/>
          </p14:sldIdLst>
        </p14:section>
        <p14:section name="Design" id="{b71727e7-b8a0-5d02-6563-f4c1ec4c8e02}">
          <p14:sldIdLst>
            <p14:sldId id="259"/>
          </p14:sldIdLst>
        </p14:section>
        <p14:section name="Engineering" id="{3fa9edd0-8649-b514-915d-ded161e6c4f1}">
          <p14:sldIdLst>
            <p14:sldId id="260"/>
            <p14:sldId id="261"/>
          </p14:sldIdLst>
        </p14:section>
        <p14:section name="Results" id="{1d6d87e1-531b-d68e-24b4-6be0600d1b5c}">
          <p14:sldIdLst>
            <p14:sldId id="262"/>
          </p14:sldIdLst>
        </p14:section>
        <p14:section name="Closing" id="{984fc563-8ebb-6a0c-d967-d1bcf9f6c609}">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ScholarTrack aggregates open scholarships for Indian students from three live portals into one list ordered by the nearest deadline, stores the details students retype on every form, and tracks each application. Everything shown today runs against the real portals.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stressing: this is not an awareness problem. Students know scholarships exist. The cost is in finding which are open right now, and in the repetition of applying. ScholarTrack attacks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deep-link rule is the one to dwell on. A naive aggregator links to the portal and leaves the student to search again, which destroys most of the value of aggregating. We enforce it centrally rather than trusting each scraper.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constraints shaped this: same-origin removes CORS, null pooling is forced by serverless execution, and ruling out a headless browser is what made data acquisition the hard part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spend time on — it is where the real engineering was. Buddy4Study: the sitemap is declared in robots.txt, and individual pages are server-rendered because the site wants them indexed. Vidyasaarathi: the empty-state string is the else-branch of its own renderer, which is why a naive scraper reports zero schemes while fifteen are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Demonstrated, not argued: with all three scrapers forced to fail against an empty database, the run is correctly reported as failed, each source is named in the summary, and the dashboard still shows 75 scholarships in deadline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objective not fully closed is deployment: the hosting configuration is written and the build verified, but the live deployment was still being brought up at the time of writing. Everything else is demonstrable.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on limitations deliberately: every one of these is a consequence of a constraint we chose knowingly, and each has a stated route forward. Happy to take questions on any of the three scrapers.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2148840"/>
            <a:ext cx="11055096"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66928" y="3611880"/>
            <a:ext cx="11055096" cy="1371600"/>
          </a:xfrm>
          <a:prstGeom prst="rect">
            <a:avLst/>
          </a:prstGeom>
          <a:noFill/>
          <a:ln/>
        </p:spPr>
        <p:txBody>
          <a:bodyPr wrap="square" rtlCol="0"/>
          <a:lstStyle>
            <a:lvl1pPr algn="l" indent="0" marL="0">
              <a:buNone/>
              <a:defRPr lang="en-US" sz="1800" dirty="0">
                <a:solidFill>
                  <a:srgbClr val="CBD5E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713232"/>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body" hasCustomPrompt="1"/>
          </p:nvPr>
        </p:nvSpPr>
        <p:spPr>
          <a:xfrm>
            <a:off x="566928" y="1060704"/>
            <a:ext cx="11055096" cy="365760"/>
          </a:xfrm>
          <a:prstGeom prst="rect">
            <a:avLst/>
          </a:prstGeom>
          <a:noFill/>
          <a:ln/>
        </p:spPr>
        <p:txBody>
          <a:bodyPr wrap="square" rtlCol="0"/>
          <a:lstStyle>
            <a:lvl1pPr algn="l" indent="0" marL="0">
              <a:buNone/>
              <a:defRPr lang="en-US" sz="1500" dirty="0">
                <a:solidFill>
                  <a:srgbClr val="64748B"/>
                </a:solidFill>
              </a:defRPr>
            </a:lvl1pPr>
          </a:lstStyle>
          <a:p>
            <a:pPr algn="l" indent="0" marL="0">
              <a:buNone/>
            </a:pPr>
            <a:endParaRPr lang="en-US" sz="1500" dirty="0"/>
          </a:p>
        </p:txBody>
      </p:sp>
      <p:sp>
        <p:nvSpPr>
          <p:cNvPr id="25" name="Slide Number Placeholder 0"/>
          <p:cNvSpPr>
            <a:spLocks noGrp="1"/>
          </p:cNvSpPr>
          <p:nvPr>
            <p:ph type="sldNum" sz="quarter" idx="4294967295"/>
          </p:nvPr>
        </p:nvSpPr>
        <p:spPr>
          <a:xfrm>
            <a:off x="114757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6C0C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6C0C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66928" y="1417320"/>
            <a:ext cx="7315200" cy="310896"/>
          </a:xfrm>
          <a:prstGeom prst="rect">
            <a:avLst/>
          </a:prstGeom>
          <a:noFill/>
          <a:ln/>
        </p:spPr>
        <p:txBody>
          <a:bodyPr wrap="square" lIns="0" tIns="0" rIns="0" bIns="0" rtlCol="0" anchor="ctr"/>
          <a:lstStyle/>
          <a:p>
            <a:pPr indent="0" marL="0">
              <a:buNone/>
            </a:pPr>
            <a:r>
              <a:rPr lang="en-US" sz="1300" b="1" spc="300" kern="0" dirty="0">
                <a:solidFill>
                  <a:srgbClr val="0F766E"/>
                </a:solidFill>
              </a:rPr>
              <a:t>PROJECT PRESENTATION</a:t>
            </a:r>
            <a:endParaRPr lang="en-US" sz="1300" dirty="0"/>
          </a:p>
        </p:txBody>
      </p:sp>
      <p:sp>
        <p:nvSpPr>
          <p:cNvPr id="3" name="Text 0"/>
          <p:cNvSpPr/>
          <p:nvPr>
            <p:ph idx="100" type="title" hasCustomPrompt="1"/>
          </p:nvPr>
        </p:nvSpPr>
        <p:spPr>
          <a:xfrm>
            <a:off x="566928" y="2148840"/>
            <a:ext cx="11055096" cy="1371600"/>
          </a:xfrm>
          <a:prstGeom prst="rect">
            <a:avLst/>
          </a:prstGeom>
          <a:noFill/>
          <a:ln/>
        </p:spPr>
        <p:txBody>
          <a:bodyPr wrap="square" rtlCol="0"/>
          <a:lstStyle/>
          <a:p>
            <a:pPr algn="l" indent="0" marL="0">
              <a:buNone/>
            </a:pPr>
            <a:r>
              <a:rPr lang="en-US" sz="4800" b="1" dirty="0">
                <a:solidFill>
                  <a:schemeClr val="bg1"/>
                </a:solidFill>
              </a:rPr>
              <a:t>ScholarTrack</a:t>
            </a:r>
            <a:endParaRPr lang="en-US" sz="4800" dirty="0"/>
          </a:p>
        </p:txBody>
      </p:sp>
      <p:sp>
        <p:nvSpPr>
          <p:cNvPr id="4" name="Text 0"/>
          <p:cNvSpPr/>
          <p:nvPr>
            <p:ph idx="101" type="body" hasCustomPrompt="1"/>
          </p:nvPr>
        </p:nvSpPr>
        <p:spPr>
          <a:xfrm>
            <a:off x="566928" y="3611880"/>
            <a:ext cx="11055096" cy="1371600"/>
          </a:xfrm>
          <a:prstGeom prst="rect">
            <a:avLst/>
          </a:prstGeom>
          <a:noFill/>
          <a:ln/>
        </p:spPr>
        <p:txBody>
          <a:bodyPr wrap="square" rtlCol="0"/>
          <a:lstStyle/>
          <a:p>
            <a:pPr algn="l" indent="0" marL="0">
              <a:buNone/>
            </a:pPr>
            <a:r>
              <a:rPr lang="en-US" sz="1800" dirty="0">
                <a:solidFill>
                  <a:srgbClr val="CBD5E1"/>
                </a:solidFill>
              </a:rPr>
              <a:t>Finding every open scholarship in one place, ordered by what closes first</a:t>
            </a:r>
            <a:endParaRPr lang="en-US" sz="1800" dirty="0"/>
          </a:p>
        </p:txBody>
      </p:sp>
      <p:sp>
        <p:nvSpPr>
          <p:cNvPr id="5" name="Text 3"/>
          <p:cNvSpPr txBox="1"/>
          <p:nvPr/>
        </p:nvSpPr>
        <p:spPr>
          <a:xfrm>
            <a:off x="566928" y="5047488"/>
            <a:ext cx="1005840" cy="548640"/>
          </a:xfrm>
          <a:prstGeom prst="rect">
            <a:avLst/>
          </a:prstGeom>
          <a:noFill/>
          <a:ln/>
        </p:spPr>
        <p:txBody>
          <a:bodyPr wrap="square" lIns="0" tIns="0" rIns="0" bIns="0" rtlCol="0" anchor="ctr"/>
          <a:lstStyle/>
          <a:p>
            <a:pPr algn="l" indent="0" marL="0">
              <a:buNone/>
            </a:pPr>
            <a:r>
              <a:rPr lang="en-US" sz="3000" b="1" dirty="0">
                <a:solidFill>
                  <a:schemeClr val="bg1"/>
                </a:solidFill>
              </a:rPr>
              <a:t>3</a:t>
            </a:r>
            <a:endParaRPr lang="en-US" sz="3000" dirty="0"/>
          </a:p>
        </p:txBody>
      </p:sp>
      <p:sp>
        <p:nvSpPr>
          <p:cNvPr id="6" name="Text 4"/>
          <p:cNvSpPr txBox="1"/>
          <p:nvPr/>
        </p:nvSpPr>
        <p:spPr>
          <a:xfrm>
            <a:off x="566928" y="5596128"/>
            <a:ext cx="2103120" cy="365760"/>
          </a:xfrm>
          <a:prstGeom prst="rect">
            <a:avLst/>
          </a:prstGeom>
          <a:noFill/>
          <a:ln/>
        </p:spPr>
        <p:txBody>
          <a:bodyPr wrap="square" lIns="0" tIns="0" rIns="0" bIns="0" rtlCol="0" anchor="ctr"/>
          <a:lstStyle/>
          <a:p>
            <a:pPr algn="l" indent="0" marL="0">
              <a:buNone/>
            </a:pPr>
            <a:r>
              <a:rPr lang="en-US" sz="1200" dirty="0">
                <a:solidFill>
                  <a:srgbClr val="94A3B8"/>
                </a:solidFill>
              </a:rPr>
              <a:t>live portals</a:t>
            </a:r>
            <a:endParaRPr lang="en-US" sz="1200" dirty="0"/>
          </a:p>
        </p:txBody>
      </p:sp>
      <p:sp>
        <p:nvSpPr>
          <p:cNvPr id="7" name="Text 5"/>
          <p:cNvSpPr txBox="1"/>
          <p:nvPr/>
        </p:nvSpPr>
        <p:spPr>
          <a:xfrm>
            <a:off x="2944368" y="5047488"/>
            <a:ext cx="1005840" cy="548640"/>
          </a:xfrm>
          <a:prstGeom prst="rect">
            <a:avLst/>
          </a:prstGeom>
          <a:noFill/>
          <a:ln/>
        </p:spPr>
        <p:txBody>
          <a:bodyPr wrap="square" lIns="0" tIns="0" rIns="0" bIns="0" rtlCol="0" anchor="ctr"/>
          <a:lstStyle/>
          <a:p>
            <a:pPr algn="l" indent="0" marL="0">
              <a:buNone/>
            </a:pPr>
            <a:r>
              <a:rPr lang="en-US" sz="3000" b="1" dirty="0">
                <a:solidFill>
                  <a:schemeClr val="bg1"/>
                </a:solidFill>
              </a:rPr>
              <a:t>58</a:t>
            </a:r>
            <a:endParaRPr lang="en-US" sz="3000" dirty="0"/>
          </a:p>
        </p:txBody>
      </p:sp>
      <p:sp>
        <p:nvSpPr>
          <p:cNvPr id="8" name="Text 6"/>
          <p:cNvSpPr txBox="1"/>
          <p:nvPr/>
        </p:nvSpPr>
        <p:spPr>
          <a:xfrm>
            <a:off x="2944368" y="5596128"/>
            <a:ext cx="2103120" cy="365760"/>
          </a:xfrm>
          <a:prstGeom prst="rect">
            <a:avLst/>
          </a:prstGeom>
          <a:noFill/>
          <a:ln/>
        </p:spPr>
        <p:txBody>
          <a:bodyPr wrap="square" lIns="0" tIns="0" rIns="0" bIns="0" rtlCol="0" anchor="ctr"/>
          <a:lstStyle/>
          <a:p>
            <a:pPr algn="l" indent="0" marL="0">
              <a:buNone/>
            </a:pPr>
            <a:r>
              <a:rPr lang="en-US" sz="1200" dirty="0">
                <a:solidFill>
                  <a:srgbClr val="94A3B8"/>
                </a:solidFill>
              </a:rPr>
              <a:t>open scholarships</a:t>
            </a:r>
            <a:endParaRPr lang="en-US" sz="1200" dirty="0"/>
          </a:p>
        </p:txBody>
      </p:sp>
      <p:sp>
        <p:nvSpPr>
          <p:cNvPr id="9" name="Text 7"/>
          <p:cNvSpPr txBox="1"/>
          <p:nvPr/>
        </p:nvSpPr>
        <p:spPr>
          <a:xfrm>
            <a:off x="5321808" y="5047488"/>
            <a:ext cx="1005840" cy="548640"/>
          </a:xfrm>
          <a:prstGeom prst="rect">
            <a:avLst/>
          </a:prstGeom>
          <a:noFill/>
          <a:ln/>
        </p:spPr>
        <p:txBody>
          <a:bodyPr wrap="square" lIns="0" tIns="0" rIns="0" bIns="0" rtlCol="0" anchor="ctr"/>
          <a:lstStyle/>
          <a:p>
            <a:pPr algn="l" indent="0" marL="0">
              <a:buNone/>
            </a:pPr>
            <a:r>
              <a:rPr lang="en-US" sz="3000" b="1" dirty="0">
                <a:solidFill>
                  <a:schemeClr val="bg1"/>
                </a:solidFill>
              </a:rPr>
              <a:t>157</a:t>
            </a:r>
            <a:endParaRPr lang="en-US" sz="3000" dirty="0"/>
          </a:p>
        </p:txBody>
      </p:sp>
      <p:sp>
        <p:nvSpPr>
          <p:cNvPr id="10" name="Text 8"/>
          <p:cNvSpPr txBox="1"/>
          <p:nvPr/>
        </p:nvSpPr>
        <p:spPr>
          <a:xfrm>
            <a:off x="5321808" y="5596128"/>
            <a:ext cx="2103120" cy="365760"/>
          </a:xfrm>
          <a:prstGeom prst="rect">
            <a:avLst/>
          </a:prstGeom>
          <a:noFill/>
          <a:ln/>
        </p:spPr>
        <p:txBody>
          <a:bodyPr wrap="square" lIns="0" tIns="0" rIns="0" bIns="0" rtlCol="0" anchor="ctr"/>
          <a:lstStyle/>
          <a:p>
            <a:pPr algn="l" indent="0" marL="0">
              <a:buNone/>
            </a:pPr>
            <a:r>
              <a:rPr lang="en-US" sz="1200" dirty="0">
                <a:solidFill>
                  <a:srgbClr val="94A3B8"/>
                </a:solidFill>
              </a:rPr>
              <a:t>automated tests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713232"/>
          </a:xfrm>
          <a:prstGeom prst="rect">
            <a:avLst/>
          </a:prstGeom>
          <a:noFill/>
          <a:ln/>
        </p:spPr>
        <p:txBody>
          <a:bodyPr wrap="square" rtlCol="0"/>
          <a:lstStyle/>
          <a:p>
            <a:pPr algn="l" indent="0" marL="0">
              <a:buNone/>
            </a:pPr>
            <a:r>
              <a:rPr lang="en-US" sz="3200" b="1" dirty="0">
                <a:solidFill>
                  <a:schemeClr val="tx1"/>
                </a:solidFill>
              </a:rPr>
              <a:t>Scholarships are scattered, and applying repeats itself</a:t>
            </a:r>
            <a:endParaRPr lang="en-US" sz="3200" dirty="0"/>
          </a:p>
        </p:txBody>
      </p:sp>
      <p:sp>
        <p:nvSpPr>
          <p:cNvPr id="3" name="Text 0"/>
          <p:cNvSpPr/>
          <p:nvPr>
            <p:ph idx="101" type="body" hasCustomPrompt="1"/>
          </p:nvPr>
        </p:nvSpPr>
        <p:spPr>
          <a:xfrm>
            <a:off x="566928" y="1060704"/>
            <a:ext cx="11055096" cy="365760"/>
          </a:xfrm>
          <a:prstGeom prst="rect">
            <a:avLst/>
          </a:prstGeom>
          <a:noFill/>
          <a:ln/>
        </p:spPr>
        <p:txBody>
          <a:bodyPr wrap="square" rtlCol="0"/>
          <a:lstStyle/>
          <a:p>
            <a:pPr algn="l" indent="0" marL="0">
              <a:buNone/>
            </a:pPr>
            <a:r>
              <a:rPr lang="en-US" sz="1500" dirty="0">
                <a:solidFill>
                  <a:srgbClr val="64748B"/>
                </a:solidFill>
              </a:rPr>
              <a:t>Two separate problems, both costing students awards they qualify for</a:t>
            </a:r>
            <a:endParaRPr lang="en-US" sz="1500" dirty="0"/>
          </a:p>
        </p:txBody>
      </p:sp>
      <p:sp>
        <p:nvSpPr>
          <p:cNvPr id="4" name="problem-1"/>
          <p:cNvSpPr/>
          <p:nvPr/>
        </p:nvSpPr>
        <p:spPr>
          <a:xfrm>
            <a:off x="566928" y="1691640"/>
            <a:ext cx="5349240" cy="3200400"/>
          </a:xfrm>
          <a:prstGeom prst="roundRect">
            <a:avLst>
              <a:gd name="adj" fmla="val 2857"/>
            </a:avLst>
          </a:prstGeom>
          <a:solidFill>
            <a:schemeClr val="bg2"/>
          </a:solidFill>
          <a:ln w="12700">
            <a:solidFill>
              <a:srgbClr val="E2E8F0"/>
            </a:solidFill>
            <a:prstDash val="solid"/>
          </a:ln>
        </p:spPr>
      </p:sp>
      <p:sp>
        <p:nvSpPr>
          <p:cNvPr id="5" name="dot-1"/>
          <p:cNvSpPr/>
          <p:nvPr/>
        </p:nvSpPr>
        <p:spPr>
          <a:xfrm>
            <a:off x="950976" y="2011680"/>
            <a:ext cx="420624" cy="420624"/>
          </a:xfrm>
          <a:prstGeom prst="ellipse">
            <a:avLst/>
          </a:prstGeom>
          <a:solidFill>
            <a:srgbClr val="4338CA"/>
          </a:solidFill>
          <a:ln w="12700">
            <a:solidFill>
              <a:srgbClr val="4338CA"/>
            </a:solidFill>
            <a:prstDash val="solid"/>
          </a:ln>
        </p:spPr>
      </p:sp>
      <p:sp>
        <p:nvSpPr>
          <p:cNvPr id="6" name="Text 4"/>
          <p:cNvSpPr txBox="1"/>
          <p:nvPr/>
        </p:nvSpPr>
        <p:spPr>
          <a:xfrm>
            <a:off x="950976" y="20116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txBox="1"/>
          <p:nvPr/>
        </p:nvSpPr>
        <p:spPr>
          <a:xfrm>
            <a:off x="1527048" y="2029968"/>
            <a:ext cx="4023360" cy="411480"/>
          </a:xfrm>
          <a:prstGeom prst="rect">
            <a:avLst/>
          </a:prstGeom>
          <a:noFill/>
          <a:ln/>
        </p:spPr>
        <p:txBody>
          <a:bodyPr wrap="square" lIns="0" tIns="0" rIns="0" bIns="0" rtlCol="0" anchor="ctr"/>
          <a:lstStyle/>
          <a:p>
            <a:pPr indent="0" marL="0">
              <a:buNone/>
            </a:pPr>
            <a:r>
              <a:rPr lang="en-US" sz="2000" b="1" dirty="0">
                <a:solidFill>
                  <a:schemeClr val="tx1"/>
                </a:solidFill>
              </a:rPr>
              <a:t>Discovery is fragmented</a:t>
            </a:r>
            <a:endParaRPr lang="en-US" sz="2000" dirty="0"/>
          </a:p>
        </p:txBody>
      </p:sp>
      <p:sp>
        <p:nvSpPr>
          <p:cNvPr id="8" name="Text 6"/>
          <p:cNvSpPr txBox="1"/>
          <p:nvPr/>
        </p:nvSpPr>
        <p:spPr>
          <a:xfrm>
            <a:off x="950976" y="2697480"/>
            <a:ext cx="4572000" cy="2011680"/>
          </a:xfrm>
          <a:prstGeom prst="rect">
            <a:avLst/>
          </a:prstGeom>
          <a:noFill/>
          <a:ln/>
        </p:spPr>
        <p:txBody>
          <a:bodyPr wrap="square" lIns="0" tIns="0" rIns="0" bIns="0" rtlCol="0" anchor="ctr"/>
          <a:lstStyle/>
          <a:p>
            <a:pPr indent="0" marL="0">
              <a:lnSpc>
                <a:spcPct val="125000"/>
              </a:lnSpc>
              <a:buNone/>
            </a:pPr>
            <a:r>
              <a:rPr lang="en-US" sz="1400" dirty="0">
                <a:solidFill>
                  <a:srgbClr val="64748B"/>
                </a:solidFill>
              </a:rPr>
              <a:t>Central schemes sit on NSP, private ones on Buddy4Study, corporate CSR funds on Vidyasaarathi. No portal shows another’s listings, and none orders by urgency — so the scholarship closing in three days is not shown before the one closing in three months.</a:t>
            </a:r>
            <a:endParaRPr lang="en-US" sz="1400" dirty="0"/>
          </a:p>
        </p:txBody>
      </p:sp>
      <p:sp>
        <p:nvSpPr>
          <p:cNvPr id="9" name="problem-2"/>
          <p:cNvSpPr/>
          <p:nvPr/>
        </p:nvSpPr>
        <p:spPr>
          <a:xfrm>
            <a:off x="6281928" y="1691640"/>
            <a:ext cx="5349240" cy="3200400"/>
          </a:xfrm>
          <a:prstGeom prst="roundRect">
            <a:avLst>
              <a:gd name="adj" fmla="val 2857"/>
            </a:avLst>
          </a:prstGeom>
          <a:solidFill>
            <a:schemeClr val="bg2"/>
          </a:solidFill>
          <a:ln w="12700">
            <a:solidFill>
              <a:srgbClr val="E2E8F0"/>
            </a:solidFill>
            <a:prstDash val="solid"/>
          </a:ln>
        </p:spPr>
      </p:sp>
      <p:sp>
        <p:nvSpPr>
          <p:cNvPr id="10" name="dot-2"/>
          <p:cNvSpPr/>
          <p:nvPr/>
        </p:nvSpPr>
        <p:spPr>
          <a:xfrm>
            <a:off x="6665976" y="2011680"/>
            <a:ext cx="420624" cy="420624"/>
          </a:xfrm>
          <a:prstGeom prst="ellipse">
            <a:avLst/>
          </a:prstGeom>
          <a:solidFill>
            <a:srgbClr val="B45309"/>
          </a:solidFill>
          <a:ln w="12700">
            <a:solidFill>
              <a:srgbClr val="B45309"/>
            </a:solidFill>
            <a:prstDash val="solid"/>
          </a:ln>
        </p:spPr>
      </p:sp>
      <p:sp>
        <p:nvSpPr>
          <p:cNvPr id="11" name="Text 9"/>
          <p:cNvSpPr txBox="1"/>
          <p:nvPr/>
        </p:nvSpPr>
        <p:spPr>
          <a:xfrm>
            <a:off x="6665976" y="20116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7242048" y="2029968"/>
            <a:ext cx="4023360" cy="411480"/>
          </a:xfrm>
          <a:prstGeom prst="rect">
            <a:avLst/>
          </a:prstGeom>
          <a:noFill/>
          <a:ln/>
        </p:spPr>
        <p:txBody>
          <a:bodyPr wrap="square" lIns="0" tIns="0" rIns="0" bIns="0" rtlCol="0" anchor="ctr"/>
          <a:lstStyle/>
          <a:p>
            <a:pPr indent="0" marL="0">
              <a:buNone/>
            </a:pPr>
            <a:r>
              <a:rPr lang="en-US" sz="2000" b="1" dirty="0">
                <a:solidFill>
                  <a:schemeClr val="tx1"/>
                </a:solidFill>
              </a:rPr>
              <a:t>Applying is repetitive</a:t>
            </a:r>
            <a:endParaRPr lang="en-US" sz="2000" dirty="0"/>
          </a:p>
        </p:txBody>
      </p:sp>
      <p:sp>
        <p:nvSpPr>
          <p:cNvPr id="13" name="Text 11"/>
          <p:cNvSpPr txBox="1"/>
          <p:nvPr/>
        </p:nvSpPr>
        <p:spPr>
          <a:xfrm>
            <a:off x="6665976" y="2697480"/>
            <a:ext cx="4572000" cy="2011680"/>
          </a:xfrm>
          <a:prstGeom prst="rect">
            <a:avLst/>
          </a:prstGeom>
          <a:noFill/>
          <a:ln/>
        </p:spPr>
        <p:txBody>
          <a:bodyPr wrap="square" lIns="0" tIns="0" rIns="0" bIns="0" rtlCol="0" anchor="ctr"/>
          <a:lstStyle/>
          <a:p>
            <a:pPr indent="0" marL="0">
              <a:lnSpc>
                <a:spcPct val="125000"/>
              </a:lnSpc>
              <a:buNone/>
            </a:pPr>
            <a:r>
              <a:rPr lang="en-US" sz="1400" dirty="0">
                <a:solidFill>
                  <a:srgbClr val="64748B"/>
                </a:solidFill>
              </a:rPr>
              <a:t>Every form asks for the same name, date of birth, category, income, marks, bank details and document list. Eight applications means retyping it eight times, and one mistyped IFSC or income figure can invalidate the application.</a:t>
            </a:r>
            <a:endParaRPr lang="en-US" sz="1400" dirty="0"/>
          </a:p>
        </p:txBody>
      </p:sp>
      <p:sp>
        <p:nvSpPr>
          <p:cNvPr id="14" name="Text 12"/>
          <p:cNvSpPr txBox="1"/>
          <p:nvPr/>
        </p:nvSpPr>
        <p:spPr>
          <a:xfrm>
            <a:off x="566928" y="5166360"/>
            <a:ext cx="11055096" cy="548640"/>
          </a:xfrm>
          <a:prstGeom prst="rect">
            <a:avLst/>
          </a:prstGeom>
          <a:noFill/>
          <a:ln/>
        </p:spPr>
        <p:txBody>
          <a:bodyPr wrap="square" lIns="0" tIns="0" rIns="0" bIns="0" rtlCol="0" anchor="ctr"/>
          <a:lstStyle/>
          <a:p>
            <a:pPr indent="0" marL="0">
              <a:buNone/>
            </a:pPr>
            <a:r>
              <a:rPr lang="en-US" sz="1500" i="1" dirty="0">
                <a:solidFill>
                  <a:srgbClr val="4338CA"/>
                </a:solidFill>
              </a:rPr>
              <a:t>Deadlines are missed not because students are unaware of scholarships, but because the information is scattered and the effort of applying repeats.</a:t>
            </a:r>
            <a:endParaRPr lang="en-US" sz="1500" dirty="0"/>
          </a:p>
        </p:txBody>
      </p:sp>
      <p:sp>
        <p:nvSpPr>
          <p:cNvPr id="25" name="Slide Number Placeholder 0"/>
          <p:cNvSpPr>
            <a:spLocks noGrp="1"/>
          </p:cNvSpPr>
          <p:nvPr>
            <p:ph type="sldNum" sz="quarter" idx="4294967295"/>
          </p:nvPr>
        </p:nvSpPr>
        <p:spPr>
          <a:xfrm>
            <a:off x="114757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6C0C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713232"/>
          </a:xfrm>
          <a:prstGeom prst="rect">
            <a:avLst/>
          </a:prstGeom>
          <a:noFill/>
          <a:ln/>
        </p:spPr>
        <p:txBody>
          <a:bodyPr wrap="square" rtlCol="0"/>
          <a:lstStyle/>
          <a:p>
            <a:pPr algn="l" indent="0" marL="0">
              <a:buNone/>
            </a:pPr>
            <a:r>
              <a:rPr lang="en-US" sz="3200" b="1" dirty="0">
                <a:solidFill>
                  <a:schemeClr val="tx1"/>
                </a:solidFill>
              </a:rPr>
              <a:t>One dashboard, ordered by what closes first</a:t>
            </a:r>
            <a:endParaRPr lang="en-US" sz="3200" dirty="0"/>
          </a:p>
        </p:txBody>
      </p:sp>
      <p:sp>
        <p:nvSpPr>
          <p:cNvPr id="3" name="Text 0"/>
          <p:cNvSpPr/>
          <p:nvPr>
            <p:ph idx="101" type="body" hasCustomPrompt="1"/>
          </p:nvPr>
        </p:nvSpPr>
        <p:spPr>
          <a:xfrm>
            <a:off x="566928" y="1060704"/>
            <a:ext cx="11055096" cy="365760"/>
          </a:xfrm>
          <a:prstGeom prst="rect">
            <a:avLst/>
          </a:prstGeom>
          <a:noFill/>
          <a:ln/>
        </p:spPr>
        <p:txBody>
          <a:bodyPr wrap="square" rtlCol="0"/>
          <a:lstStyle/>
          <a:p>
            <a:pPr algn="l" indent="0" marL="0">
              <a:buNone/>
            </a:pPr>
            <a:r>
              <a:rPr lang="en-US" sz="1500" dirty="0">
                <a:solidFill>
                  <a:srgbClr val="64748B"/>
                </a:solidFill>
              </a:rPr>
              <a:t>Four capabilities, each answering one part of the problem</a:t>
            </a:r>
            <a:endParaRPr lang="en-US" sz="1500" dirty="0"/>
          </a:p>
        </p:txBody>
      </p:sp>
      <p:sp>
        <p:nvSpPr>
          <p:cNvPr id="4" name="dot-1"/>
          <p:cNvSpPr/>
          <p:nvPr/>
        </p:nvSpPr>
        <p:spPr>
          <a:xfrm>
            <a:off x="612648" y="1700784"/>
            <a:ext cx="420624" cy="420624"/>
          </a:xfrm>
          <a:prstGeom prst="ellipse">
            <a:avLst/>
          </a:prstGeom>
          <a:solidFill>
            <a:srgbClr val="0F766E"/>
          </a:solidFill>
          <a:ln w="12700">
            <a:solidFill>
              <a:srgbClr val="0F766E"/>
            </a:solidFill>
            <a:prstDash val="solid"/>
          </a:ln>
        </p:spPr>
      </p:sp>
      <p:sp>
        <p:nvSpPr>
          <p:cNvPr id="5" name="Text 3"/>
          <p:cNvSpPr txBox="1"/>
          <p:nvPr/>
        </p:nvSpPr>
        <p:spPr>
          <a:xfrm>
            <a:off x="612648" y="17007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252728" y="1627632"/>
            <a:ext cx="3200400" cy="384048"/>
          </a:xfrm>
          <a:prstGeom prst="rect">
            <a:avLst/>
          </a:prstGeom>
          <a:noFill/>
          <a:ln/>
        </p:spPr>
        <p:txBody>
          <a:bodyPr wrap="square" lIns="0" tIns="0" rIns="0" bIns="0" rtlCol="0" anchor="ctr"/>
          <a:lstStyle/>
          <a:p>
            <a:pPr indent="0" marL="0">
              <a:buNone/>
            </a:pPr>
            <a:r>
              <a:rPr lang="en-US" sz="1700" b="1" dirty="0">
                <a:solidFill>
                  <a:schemeClr val="tx1"/>
                </a:solidFill>
              </a:rPr>
              <a:t>Aggregate and rank</a:t>
            </a:r>
            <a:endParaRPr lang="en-US" sz="1700" dirty="0"/>
          </a:p>
        </p:txBody>
      </p:sp>
      <p:sp>
        <p:nvSpPr>
          <p:cNvPr id="7" name="Text 5"/>
          <p:cNvSpPr txBox="1"/>
          <p:nvPr/>
        </p:nvSpPr>
        <p:spPr>
          <a:xfrm>
            <a:off x="4498848" y="1609344"/>
            <a:ext cx="7123176" cy="914400"/>
          </a:xfrm>
          <a:prstGeom prst="rect">
            <a:avLst/>
          </a:prstGeom>
          <a:noFill/>
          <a:ln/>
        </p:spPr>
        <p:txBody>
          <a:bodyPr wrap="square" lIns="0" tIns="0" rIns="0" bIns="0" rtlCol="0" anchor="ctr"/>
          <a:lstStyle/>
          <a:p>
            <a:pPr indent="0" marL="0">
              <a:lnSpc>
                <a:spcPct val="120000"/>
              </a:lnSpc>
              <a:buNone/>
            </a:pPr>
            <a:r>
              <a:rPr lang="en-US" sz="1350" dirty="0">
                <a:solidFill>
                  <a:srgbClr val="64748B"/>
                </a:solidFill>
              </a:rPr>
              <a:t>Three portals merged into one list, nearest deadline first, expired hidden. Refreshed automatically every day.</a:t>
            </a:r>
            <a:endParaRPr lang="en-US" sz="1350" dirty="0"/>
          </a:p>
        </p:txBody>
      </p:sp>
      <p:sp>
        <p:nvSpPr>
          <p:cNvPr id="8" name="dot-2"/>
          <p:cNvSpPr/>
          <p:nvPr/>
        </p:nvSpPr>
        <p:spPr>
          <a:xfrm>
            <a:off x="612648" y="2816352"/>
            <a:ext cx="420624" cy="420624"/>
          </a:xfrm>
          <a:prstGeom prst="ellipse">
            <a:avLst/>
          </a:prstGeom>
          <a:solidFill>
            <a:srgbClr val="4338CA"/>
          </a:solidFill>
          <a:ln w="12700">
            <a:solidFill>
              <a:srgbClr val="4338CA"/>
            </a:solidFill>
            <a:prstDash val="solid"/>
          </a:ln>
        </p:spPr>
      </p:sp>
      <p:sp>
        <p:nvSpPr>
          <p:cNvPr id="9" name="Text 7"/>
          <p:cNvSpPr txBox="1"/>
          <p:nvPr/>
        </p:nvSpPr>
        <p:spPr>
          <a:xfrm>
            <a:off x="612648" y="281635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Text 8"/>
          <p:cNvSpPr txBox="1"/>
          <p:nvPr/>
        </p:nvSpPr>
        <p:spPr>
          <a:xfrm>
            <a:off x="1252728" y="2743200"/>
            <a:ext cx="3200400" cy="384048"/>
          </a:xfrm>
          <a:prstGeom prst="rect">
            <a:avLst/>
          </a:prstGeom>
          <a:noFill/>
          <a:ln/>
        </p:spPr>
        <p:txBody>
          <a:bodyPr wrap="square" lIns="0" tIns="0" rIns="0" bIns="0" rtlCol="0" anchor="ctr"/>
          <a:lstStyle/>
          <a:p>
            <a:pPr indent="0" marL="0">
              <a:buNone/>
            </a:pPr>
            <a:r>
              <a:rPr lang="en-US" sz="1700" b="1" dirty="0">
                <a:solidFill>
                  <a:schemeClr val="tx1"/>
                </a:solidFill>
              </a:rPr>
              <a:t>Deep-link to the scholarship</a:t>
            </a:r>
            <a:endParaRPr lang="en-US" sz="1700" dirty="0"/>
          </a:p>
        </p:txBody>
      </p:sp>
      <p:sp>
        <p:nvSpPr>
          <p:cNvPr id="11" name="Text 9"/>
          <p:cNvSpPr txBox="1"/>
          <p:nvPr/>
        </p:nvSpPr>
        <p:spPr>
          <a:xfrm>
            <a:off x="4498848" y="2724912"/>
            <a:ext cx="7123176" cy="914400"/>
          </a:xfrm>
          <a:prstGeom prst="rect">
            <a:avLst/>
          </a:prstGeom>
          <a:noFill/>
          <a:ln/>
        </p:spPr>
        <p:txBody>
          <a:bodyPr wrap="square" lIns="0" tIns="0" rIns="0" bIns="0" rtlCol="0" anchor="ctr"/>
          <a:lstStyle/>
          <a:p>
            <a:pPr indent="0" marL="0">
              <a:lnSpc>
                <a:spcPct val="120000"/>
              </a:lnSpc>
              <a:buNone/>
            </a:pPr>
            <a:r>
              <a:rPr lang="en-US" sz="1350" dirty="0">
                <a:solidFill>
                  <a:srgbClr val="64748B"/>
                </a:solidFill>
              </a:rPr>
              <a:t>Apply opens that scholarship’s own page — never a portal home page. A record with no specific page is discarded, not published with a misleading link.</a:t>
            </a:r>
            <a:endParaRPr lang="en-US" sz="1350" dirty="0"/>
          </a:p>
        </p:txBody>
      </p:sp>
      <p:sp>
        <p:nvSpPr>
          <p:cNvPr id="12" name="dot-3"/>
          <p:cNvSpPr/>
          <p:nvPr/>
        </p:nvSpPr>
        <p:spPr>
          <a:xfrm>
            <a:off x="612648" y="3931920"/>
            <a:ext cx="420624" cy="420624"/>
          </a:xfrm>
          <a:prstGeom prst="ellipse">
            <a:avLst/>
          </a:prstGeom>
          <a:solidFill>
            <a:srgbClr val="6D28D9"/>
          </a:solidFill>
          <a:ln w="12700">
            <a:solidFill>
              <a:srgbClr val="6D28D9"/>
            </a:solidFill>
            <a:prstDash val="solid"/>
          </a:ln>
        </p:spPr>
      </p:sp>
      <p:sp>
        <p:nvSpPr>
          <p:cNvPr id="13" name="Text 11"/>
          <p:cNvSpPr txBox="1"/>
          <p:nvPr/>
        </p:nvSpPr>
        <p:spPr>
          <a:xfrm>
            <a:off x="612648" y="3931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2"/>
          <p:cNvSpPr txBox="1"/>
          <p:nvPr/>
        </p:nvSpPr>
        <p:spPr>
          <a:xfrm>
            <a:off x="1252728" y="3858768"/>
            <a:ext cx="3200400" cy="384048"/>
          </a:xfrm>
          <a:prstGeom prst="rect">
            <a:avLst/>
          </a:prstGeom>
          <a:noFill/>
          <a:ln/>
        </p:spPr>
        <p:txBody>
          <a:bodyPr wrap="square" lIns="0" tIns="0" rIns="0" bIns="0" rtlCol="0" anchor="ctr"/>
          <a:lstStyle/>
          <a:p>
            <a:pPr indent="0" marL="0">
              <a:buNone/>
            </a:pPr>
            <a:r>
              <a:rPr lang="en-US" sz="1700" b="1" dirty="0">
                <a:solidFill>
                  <a:schemeClr val="tx1"/>
                </a:solidFill>
              </a:rPr>
              <a:t>Reusable portfolio</a:t>
            </a:r>
            <a:endParaRPr lang="en-US" sz="1700" dirty="0"/>
          </a:p>
        </p:txBody>
      </p:sp>
      <p:sp>
        <p:nvSpPr>
          <p:cNvPr id="15" name="Text 13"/>
          <p:cNvSpPr txBox="1"/>
          <p:nvPr/>
        </p:nvSpPr>
        <p:spPr>
          <a:xfrm>
            <a:off x="4498848" y="3840480"/>
            <a:ext cx="7123176" cy="914400"/>
          </a:xfrm>
          <a:prstGeom prst="rect">
            <a:avLst/>
          </a:prstGeom>
          <a:noFill/>
          <a:ln/>
        </p:spPr>
        <p:txBody>
          <a:bodyPr wrap="square" lIns="0" tIns="0" rIns="0" bIns="0" rtlCol="0" anchor="ctr"/>
          <a:lstStyle/>
          <a:p>
            <a:pPr indent="0" marL="0">
              <a:lnSpc>
                <a:spcPct val="120000"/>
              </a:lnSpc>
              <a:buNone/>
            </a:pPr>
            <a:r>
              <a:rPr lang="en-US" sz="1350" dirty="0">
                <a:solidFill>
                  <a:srgbClr val="64748B"/>
                </a:solidFill>
              </a:rPr>
              <a:t>Personal, academic, family, bank, document and CV details stored once, with a copy button beside every field.</a:t>
            </a:r>
            <a:endParaRPr lang="en-US" sz="1350" dirty="0"/>
          </a:p>
        </p:txBody>
      </p:sp>
      <p:sp>
        <p:nvSpPr>
          <p:cNvPr id="16" name="dot-4"/>
          <p:cNvSpPr/>
          <p:nvPr/>
        </p:nvSpPr>
        <p:spPr>
          <a:xfrm>
            <a:off x="612648" y="5047488"/>
            <a:ext cx="420624" cy="420624"/>
          </a:xfrm>
          <a:prstGeom prst="ellipse">
            <a:avLst/>
          </a:prstGeom>
          <a:solidFill>
            <a:srgbClr val="047857"/>
          </a:solidFill>
          <a:ln w="12700">
            <a:solidFill>
              <a:srgbClr val="047857"/>
            </a:solidFill>
            <a:prstDash val="solid"/>
          </a:ln>
        </p:spPr>
      </p:sp>
      <p:sp>
        <p:nvSpPr>
          <p:cNvPr id="17" name="Text 15"/>
          <p:cNvSpPr txBox="1"/>
          <p:nvPr/>
        </p:nvSpPr>
        <p:spPr>
          <a:xfrm>
            <a:off x="612648" y="50474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Text 16"/>
          <p:cNvSpPr txBox="1"/>
          <p:nvPr/>
        </p:nvSpPr>
        <p:spPr>
          <a:xfrm>
            <a:off x="1252728" y="4974336"/>
            <a:ext cx="3200400" cy="384048"/>
          </a:xfrm>
          <a:prstGeom prst="rect">
            <a:avLst/>
          </a:prstGeom>
          <a:noFill/>
          <a:ln/>
        </p:spPr>
        <p:txBody>
          <a:bodyPr wrap="square" lIns="0" tIns="0" rIns="0" bIns="0" rtlCol="0" anchor="ctr"/>
          <a:lstStyle/>
          <a:p>
            <a:pPr indent="0" marL="0">
              <a:buNone/>
            </a:pPr>
            <a:r>
              <a:rPr lang="en-US" sz="1700" b="1" dirty="0">
                <a:solidFill>
                  <a:schemeClr val="tx1"/>
                </a:solidFill>
              </a:rPr>
              <a:t>Track every application</a:t>
            </a:r>
            <a:endParaRPr lang="en-US" sz="1700" dirty="0"/>
          </a:p>
        </p:txBody>
      </p:sp>
      <p:sp>
        <p:nvSpPr>
          <p:cNvPr id="19" name="Text 17"/>
          <p:cNvSpPr txBox="1"/>
          <p:nvPr/>
        </p:nvSpPr>
        <p:spPr>
          <a:xfrm>
            <a:off x="4498848" y="4956048"/>
            <a:ext cx="7123176" cy="914400"/>
          </a:xfrm>
          <a:prstGeom prst="rect">
            <a:avLst/>
          </a:prstGeom>
          <a:noFill/>
          <a:ln/>
        </p:spPr>
        <p:txBody>
          <a:bodyPr wrap="square" lIns="0" tIns="0" rIns="0" bIns="0" rtlCol="0" anchor="ctr"/>
          <a:lstStyle/>
          <a:p>
            <a:pPr indent="0" marL="0">
              <a:lnSpc>
                <a:spcPct val="120000"/>
              </a:lnSpc>
              <a:buNone/>
            </a:pPr>
            <a:r>
              <a:rPr lang="en-US" sz="1350" dirty="0">
                <a:solidFill>
                  <a:srgbClr val="64748B"/>
                </a:solidFill>
              </a:rPr>
              <a:t>Saved → Applied → Under review → Awarded or Rejected. Pressing Apply records the scholarship automatically.</a:t>
            </a:r>
            <a:endParaRPr lang="en-US" sz="1350" dirty="0"/>
          </a:p>
        </p:txBody>
      </p:sp>
      <p:sp>
        <p:nvSpPr>
          <p:cNvPr id="25" name="Slide Number Placeholder 0"/>
          <p:cNvSpPr>
            <a:spLocks noGrp="1"/>
          </p:cNvSpPr>
          <p:nvPr>
            <p:ph type="sldNum" sz="quarter" idx="4294967295"/>
          </p:nvPr>
        </p:nvSpPr>
        <p:spPr>
          <a:xfrm>
            <a:off x="114757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6C0C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713232"/>
          </a:xfrm>
          <a:prstGeom prst="rect">
            <a:avLst/>
          </a:prstGeom>
          <a:noFill/>
          <a:ln/>
        </p:spPr>
        <p:txBody>
          <a:bodyPr wrap="square" rtlCol="0"/>
          <a:lstStyle/>
          <a:p>
            <a:pPr algn="l" indent="0" marL="0">
              <a:buNone/>
            </a:pPr>
            <a:r>
              <a:rPr lang="en-US" sz="3200" b="1" dirty="0">
                <a:solidFill>
                  <a:schemeClr val="tx1"/>
                </a:solidFill>
              </a:rPr>
              <a:t>How it is built</a:t>
            </a:r>
            <a:endParaRPr lang="en-US" sz="3200" dirty="0"/>
          </a:p>
        </p:txBody>
      </p:sp>
      <p:sp>
        <p:nvSpPr>
          <p:cNvPr id="3" name="Text 0"/>
          <p:cNvSpPr/>
          <p:nvPr>
            <p:ph idx="101" type="body" hasCustomPrompt="1"/>
          </p:nvPr>
        </p:nvSpPr>
        <p:spPr>
          <a:xfrm>
            <a:off x="566928" y="1060704"/>
            <a:ext cx="11055096" cy="365760"/>
          </a:xfrm>
          <a:prstGeom prst="rect">
            <a:avLst/>
          </a:prstGeom>
          <a:noFill/>
          <a:ln/>
        </p:spPr>
        <p:txBody>
          <a:bodyPr wrap="square" rtlCol="0"/>
          <a:lstStyle/>
          <a:p>
            <a:pPr algn="l" indent="0" marL="0">
              <a:buNone/>
            </a:pPr>
            <a:r>
              <a:rPr lang="en-US" sz="1500" dirty="0">
                <a:solidFill>
                  <a:srgbClr val="64748B"/>
                </a:solidFill>
              </a:rPr>
              <a:t>React front end, FastAPI on a serverless function, managed Postgres, daily scheduled refresh</a:t>
            </a:r>
            <a:endParaRPr lang="en-US" sz="1500" dirty="0"/>
          </a:p>
        </p:txBody>
      </p:sp>
      <p:pic>
        <p:nvPicPr>
          <p:cNvPr id="4" name="architecture" descr="C:\Users\Atharv\AppData\Local\Temp\claude\c--Users-Atharv-Desktop-ScholarshipScraper\b1f74d13-6d34-408c-a8ff-9649ca74bc0a\scratchpad\docgen\fig_architecture.png">    </p:cNvPr>
          <p:cNvPicPr>
            <a:picLocks noChangeAspect="1"/>
          </p:cNvPicPr>
          <p:nvPr/>
        </p:nvPicPr>
        <p:blipFill>
          <a:blip r:embed="rId1"/>
          <a:stretch>
            <a:fillRect/>
          </a:stretch>
        </p:blipFill>
        <p:spPr>
          <a:xfrm>
            <a:off x="6116862" y="1517904"/>
            <a:ext cx="5505162" cy="4828032"/>
          </a:xfrm>
          <a:prstGeom prst="rect">
            <a:avLst/>
          </a:prstGeom>
        </p:spPr>
      </p:pic>
      <p:sp>
        <p:nvSpPr>
          <p:cNvPr id="5" name="Text 2"/>
          <p:cNvSpPr txBox="1"/>
          <p:nvPr/>
        </p:nvSpPr>
        <p:spPr>
          <a:xfrm>
            <a:off x="566928" y="1627632"/>
            <a:ext cx="5029200" cy="329184"/>
          </a:xfrm>
          <a:prstGeom prst="rect">
            <a:avLst/>
          </a:prstGeom>
          <a:noFill/>
          <a:ln/>
        </p:spPr>
        <p:txBody>
          <a:bodyPr wrap="square" lIns="0" tIns="0" rIns="0" bIns="0" rtlCol="0" anchor="ctr"/>
          <a:lstStyle/>
          <a:p>
            <a:pPr indent="0" marL="0">
              <a:buNone/>
            </a:pPr>
            <a:r>
              <a:rPr lang="en-US" sz="1600" b="1" dirty="0">
                <a:solidFill>
                  <a:srgbClr val="4338CA"/>
                </a:solidFill>
              </a:rPr>
              <a:t>Same-origin API</a:t>
            </a:r>
            <a:endParaRPr lang="en-US" sz="1600" dirty="0"/>
          </a:p>
        </p:txBody>
      </p:sp>
      <p:sp>
        <p:nvSpPr>
          <p:cNvPr id="6" name="Text 3"/>
          <p:cNvSpPr txBox="1"/>
          <p:nvPr/>
        </p:nvSpPr>
        <p:spPr>
          <a:xfrm>
            <a:off x="566928" y="1975104"/>
            <a:ext cx="5074920" cy="914400"/>
          </a:xfrm>
          <a:prstGeom prst="rect">
            <a:avLst/>
          </a:prstGeom>
          <a:noFill/>
          <a:ln/>
        </p:spPr>
        <p:txBody>
          <a:bodyPr wrap="square" lIns="0" tIns="0" rIns="0" bIns="0" rtlCol="0" anchor="ctr"/>
          <a:lstStyle/>
          <a:p>
            <a:pPr indent="0" marL="0">
              <a:lnSpc>
                <a:spcPct val="120000"/>
              </a:lnSpc>
              <a:buNone/>
            </a:pPr>
            <a:r>
              <a:rPr lang="en-US" sz="1300" dirty="0">
                <a:solidFill>
                  <a:srgbClr val="64748B"/>
                </a:solidFill>
              </a:rPr>
              <a:t>The browser calls relative /api paths, so production needs no CORS configuration at all.</a:t>
            </a:r>
            <a:endParaRPr lang="en-US" sz="1300" dirty="0"/>
          </a:p>
        </p:txBody>
      </p:sp>
      <p:sp>
        <p:nvSpPr>
          <p:cNvPr id="7" name="Text 4"/>
          <p:cNvSpPr txBox="1"/>
          <p:nvPr/>
        </p:nvSpPr>
        <p:spPr>
          <a:xfrm>
            <a:off x="566928" y="2944368"/>
            <a:ext cx="5029200" cy="329184"/>
          </a:xfrm>
          <a:prstGeom prst="rect">
            <a:avLst/>
          </a:prstGeom>
          <a:noFill/>
          <a:ln/>
        </p:spPr>
        <p:txBody>
          <a:bodyPr wrap="square" lIns="0" tIns="0" rIns="0" bIns="0" rtlCol="0" anchor="ctr"/>
          <a:lstStyle/>
          <a:p>
            <a:pPr indent="0" marL="0">
              <a:buNone/>
            </a:pPr>
            <a:r>
              <a:rPr lang="en-US" sz="1600" b="1" dirty="0">
                <a:solidFill>
                  <a:srgbClr val="4338CA"/>
                </a:solidFill>
              </a:rPr>
              <a:t>No pooled connections</a:t>
            </a:r>
            <a:endParaRPr lang="en-US" sz="1600" dirty="0"/>
          </a:p>
        </p:txBody>
      </p:sp>
      <p:sp>
        <p:nvSpPr>
          <p:cNvPr id="8" name="Text 5"/>
          <p:cNvSpPr txBox="1"/>
          <p:nvPr/>
        </p:nvSpPr>
        <p:spPr>
          <a:xfrm>
            <a:off x="566928" y="3291840"/>
            <a:ext cx="5074920" cy="914400"/>
          </a:xfrm>
          <a:prstGeom prst="rect">
            <a:avLst/>
          </a:prstGeom>
          <a:noFill/>
          <a:ln/>
        </p:spPr>
        <p:txBody>
          <a:bodyPr wrap="square" lIns="0" tIns="0" rIns="0" bIns="0" rtlCol="0" anchor="ctr"/>
          <a:lstStyle/>
          <a:p>
            <a:pPr indent="0" marL="0">
              <a:lnSpc>
                <a:spcPct val="120000"/>
              </a:lnSpc>
              <a:buNone/>
            </a:pPr>
            <a:r>
              <a:rPr lang="en-US" sz="1300" dirty="0">
                <a:solidFill>
                  <a:srgbClr val="64748B"/>
                </a:solidFill>
              </a:rPr>
              <a:t>Serverless functions freeze between calls, so a held pool leaks connections. We use a null pool and let the database’s own pooler do the work.</a:t>
            </a:r>
            <a:endParaRPr lang="en-US" sz="1300" dirty="0"/>
          </a:p>
        </p:txBody>
      </p:sp>
      <p:sp>
        <p:nvSpPr>
          <p:cNvPr id="9" name="Text 6"/>
          <p:cNvSpPr txBox="1"/>
          <p:nvPr/>
        </p:nvSpPr>
        <p:spPr>
          <a:xfrm>
            <a:off x="566928" y="4261104"/>
            <a:ext cx="5029200" cy="329184"/>
          </a:xfrm>
          <a:prstGeom prst="rect">
            <a:avLst/>
          </a:prstGeom>
          <a:noFill/>
          <a:ln/>
        </p:spPr>
        <p:txBody>
          <a:bodyPr wrap="square" lIns="0" tIns="0" rIns="0" bIns="0" rtlCol="0" anchor="ctr"/>
          <a:lstStyle/>
          <a:p>
            <a:pPr indent="0" marL="0">
              <a:buNone/>
            </a:pPr>
            <a:r>
              <a:rPr lang="en-US" sz="1600" b="1" dirty="0">
                <a:solidFill>
                  <a:srgbClr val="4338CA"/>
                </a:solidFill>
              </a:rPr>
              <a:t>No headless browser</a:t>
            </a:r>
            <a:endParaRPr lang="en-US" sz="1600" dirty="0"/>
          </a:p>
        </p:txBody>
      </p:sp>
      <p:sp>
        <p:nvSpPr>
          <p:cNvPr id="10" name="Text 7"/>
          <p:cNvSpPr txBox="1"/>
          <p:nvPr/>
        </p:nvSpPr>
        <p:spPr>
          <a:xfrm>
            <a:off x="566928" y="4608576"/>
            <a:ext cx="5074920" cy="914400"/>
          </a:xfrm>
          <a:prstGeom prst="rect">
            <a:avLst/>
          </a:prstGeom>
          <a:noFill/>
          <a:ln/>
        </p:spPr>
        <p:txBody>
          <a:bodyPr wrap="square" lIns="0" tIns="0" rIns="0" bIns="0" rtlCol="0" anchor="ctr"/>
          <a:lstStyle/>
          <a:p>
            <a:pPr indent="0" marL="0">
              <a:lnSpc>
                <a:spcPct val="120000"/>
              </a:lnSpc>
              <a:buNone/>
            </a:pPr>
            <a:r>
              <a:rPr lang="en-US" sz="1300" dirty="0">
                <a:solidFill>
                  <a:srgbClr val="64748B"/>
                </a:solidFill>
              </a:rPr>
              <a:t>Scraping uses an HTTP client and an HTML parser only, so the refresh fits inside a serverless function.</a:t>
            </a:r>
            <a:endParaRPr lang="en-US" sz="1300" dirty="0"/>
          </a:p>
        </p:txBody>
      </p:sp>
      <p:sp>
        <p:nvSpPr>
          <p:cNvPr id="25" name="Slide Number Placeholder 0"/>
          <p:cNvSpPr>
            <a:spLocks noGrp="1"/>
          </p:cNvSpPr>
          <p:nvPr>
            <p:ph type="sldNum" sz="quarter" idx="4294967295"/>
          </p:nvPr>
        </p:nvSpPr>
        <p:spPr>
          <a:xfrm>
            <a:off x="114757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6C0C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713232"/>
          </a:xfrm>
          <a:prstGeom prst="rect">
            <a:avLst/>
          </a:prstGeom>
          <a:noFill/>
          <a:ln/>
        </p:spPr>
        <p:txBody>
          <a:bodyPr wrap="square" rtlCol="0"/>
          <a:lstStyle/>
          <a:p>
            <a:pPr algn="l" indent="0" marL="0">
              <a:buNone/>
            </a:pPr>
            <a:r>
              <a:rPr lang="en-US" sz="3200" b="1" dirty="0">
                <a:solidFill>
                  <a:schemeClr val="tx1"/>
                </a:solidFill>
              </a:rPr>
              <a:t>Three portals, three different problems</a:t>
            </a:r>
            <a:endParaRPr lang="en-US" sz="3200" dirty="0"/>
          </a:p>
        </p:txBody>
      </p:sp>
      <p:sp>
        <p:nvSpPr>
          <p:cNvPr id="3" name="Text 0"/>
          <p:cNvSpPr/>
          <p:nvPr>
            <p:ph idx="101" type="body" hasCustomPrompt="1"/>
          </p:nvPr>
        </p:nvSpPr>
        <p:spPr>
          <a:xfrm>
            <a:off x="566928" y="1060704"/>
            <a:ext cx="11055096" cy="365760"/>
          </a:xfrm>
          <a:prstGeom prst="rect">
            <a:avLst/>
          </a:prstGeom>
          <a:noFill/>
          <a:ln/>
        </p:spPr>
        <p:txBody>
          <a:bodyPr wrap="square" rtlCol="0"/>
          <a:lstStyle/>
          <a:p>
            <a:pPr algn="l" indent="0" marL="0">
              <a:buNone/>
            </a:pPr>
            <a:r>
              <a:rPr lang="en-US" sz="1500" dirty="0">
                <a:solidFill>
                  <a:srgbClr val="64748B"/>
                </a:solidFill>
              </a:rPr>
              <a:t>None publishes an API. Two actively mislead a direct reading of the page</a:t>
            </a:r>
            <a:endParaRPr lang="en-US" sz="1500" dirty="0"/>
          </a:p>
        </p:txBody>
      </p:sp>
      <p:sp>
        <p:nvSpPr>
          <p:cNvPr id="4" name="portal-NSP"/>
          <p:cNvSpPr/>
          <p:nvPr/>
        </p:nvSpPr>
        <p:spPr>
          <a:xfrm>
            <a:off x="566928" y="1627632"/>
            <a:ext cx="3493008" cy="3895344"/>
          </a:xfrm>
          <a:prstGeom prst="roundRect">
            <a:avLst>
              <a:gd name="adj" fmla="val 2618"/>
            </a:avLst>
          </a:prstGeom>
          <a:solidFill>
            <a:schemeClr val="bg2"/>
          </a:solidFill>
          <a:ln w="12700">
            <a:solidFill>
              <a:srgbClr val="E2E8F0"/>
            </a:solidFill>
            <a:prstDash val="solid"/>
          </a:ln>
        </p:spPr>
      </p:sp>
      <p:sp>
        <p:nvSpPr>
          <p:cNvPr id="5" name="Text 3"/>
          <p:cNvSpPr txBox="1"/>
          <p:nvPr/>
        </p:nvSpPr>
        <p:spPr>
          <a:xfrm>
            <a:off x="841248" y="1810512"/>
            <a:ext cx="2944368" cy="365760"/>
          </a:xfrm>
          <a:prstGeom prst="rect">
            <a:avLst/>
          </a:prstGeom>
          <a:noFill/>
          <a:ln/>
        </p:spPr>
        <p:txBody>
          <a:bodyPr wrap="square" lIns="0" tIns="0" rIns="0" bIns="0" rtlCol="0" anchor="ctr"/>
          <a:lstStyle/>
          <a:p>
            <a:pPr indent="0" marL="0">
              <a:buNone/>
            </a:pPr>
            <a:r>
              <a:rPr lang="en-US" sz="1800" b="1" dirty="0">
                <a:solidFill>
                  <a:srgbClr val="4338CA"/>
                </a:solidFill>
              </a:rPr>
              <a:t>NSP</a:t>
            </a:r>
            <a:endParaRPr lang="en-US" sz="1800" dirty="0"/>
          </a:p>
        </p:txBody>
      </p:sp>
      <p:sp>
        <p:nvSpPr>
          <p:cNvPr id="6" name="Text 4"/>
          <p:cNvSpPr txBox="1"/>
          <p:nvPr/>
        </p:nvSpPr>
        <p:spPr>
          <a:xfrm>
            <a:off x="841248" y="2176272"/>
            <a:ext cx="2944368" cy="274320"/>
          </a:xfrm>
          <a:prstGeom prst="rect">
            <a:avLst/>
          </a:prstGeom>
          <a:noFill/>
          <a:ln/>
        </p:spPr>
        <p:txBody>
          <a:bodyPr wrap="square" lIns="0" tIns="0" rIns="0" bIns="0" rtlCol="0" anchor="ctr"/>
          <a:lstStyle/>
          <a:p>
            <a:pPr indent="0" marL="0">
              <a:buNone/>
            </a:pPr>
            <a:r>
              <a:rPr lang="en-US" sz="1200" b="1" dirty="0">
                <a:solidFill>
                  <a:srgbClr val="64748B"/>
                </a:solidFill>
              </a:rPr>
              <a:t>31 schemes</a:t>
            </a:r>
            <a:endParaRPr lang="en-US" sz="1200" dirty="0"/>
          </a:p>
        </p:txBody>
      </p:sp>
      <p:sp>
        <p:nvSpPr>
          <p:cNvPr id="7" name="Text 5"/>
          <p:cNvSpPr txBox="1"/>
          <p:nvPr/>
        </p:nvSpPr>
        <p:spPr>
          <a:xfrm>
            <a:off x="841248" y="2578608"/>
            <a:ext cx="2944368" cy="237744"/>
          </a:xfrm>
          <a:prstGeom prst="rect">
            <a:avLst/>
          </a:prstGeom>
          <a:noFill/>
          <a:ln/>
        </p:spPr>
        <p:txBody>
          <a:bodyPr wrap="square" lIns="0" tIns="0" rIns="0" bIns="0" rtlCol="0" anchor="ctr"/>
          <a:lstStyle/>
          <a:p>
            <a:pPr indent="0" marL="0">
              <a:buNone/>
            </a:pPr>
            <a:r>
              <a:rPr lang="en-US" sz="950" b="1" spc="150" kern="0" dirty="0">
                <a:solidFill>
                  <a:srgbClr val="B45309"/>
                </a:solidFill>
              </a:rPr>
              <a:t>THE PROBLEM</a:t>
            </a:r>
            <a:endParaRPr lang="en-US" sz="950" dirty="0"/>
          </a:p>
        </p:txBody>
      </p:sp>
      <p:sp>
        <p:nvSpPr>
          <p:cNvPr id="8" name="Text 6"/>
          <p:cNvSpPr txBox="1"/>
          <p:nvPr/>
        </p:nvSpPr>
        <p:spPr>
          <a:xfrm>
            <a:off x="841248" y="2834640"/>
            <a:ext cx="2944368" cy="1298448"/>
          </a:xfrm>
          <a:prstGeom prst="rect">
            <a:avLst/>
          </a:prstGeom>
          <a:noFill/>
          <a:ln/>
        </p:spPr>
        <p:txBody>
          <a:bodyPr wrap="square" lIns="0" tIns="0" rIns="0" bIns="0" rtlCol="0" anchor="ctr"/>
          <a:lstStyle/>
          <a:p>
            <a:pPr indent="0" marL="0">
              <a:lnSpc>
                <a:spcPct val="118000"/>
              </a:lnSpc>
              <a:buNone/>
            </a:pPr>
            <a:r>
              <a:rPr lang="en-US" sz="1200" dirty="0">
                <a:solidFill>
                  <a:srgbClr val="64748B"/>
                </a:solidFill>
              </a:rPr>
              <a:t>Four dates per scheme, only one actionable. Labels contain doubled spaces, so a literal match finds nothing. Missing documents render as the text “null”.</a:t>
            </a:r>
            <a:endParaRPr lang="en-US" sz="1200" dirty="0"/>
          </a:p>
        </p:txBody>
      </p:sp>
      <p:sp>
        <p:nvSpPr>
          <p:cNvPr id="9" name="Text 7"/>
          <p:cNvSpPr txBox="1"/>
          <p:nvPr/>
        </p:nvSpPr>
        <p:spPr>
          <a:xfrm>
            <a:off x="841248" y="4169664"/>
            <a:ext cx="2944368" cy="237744"/>
          </a:xfrm>
          <a:prstGeom prst="rect">
            <a:avLst/>
          </a:prstGeom>
          <a:noFill/>
          <a:ln/>
        </p:spPr>
        <p:txBody>
          <a:bodyPr wrap="square" lIns="0" tIns="0" rIns="0" bIns="0" rtlCol="0" anchor="ctr"/>
          <a:lstStyle/>
          <a:p>
            <a:pPr indent="0" marL="0">
              <a:buNone/>
            </a:pPr>
            <a:r>
              <a:rPr lang="en-US" sz="950" b="1" spc="150" kern="0" dirty="0">
                <a:solidFill>
                  <a:srgbClr val="047857"/>
                </a:solidFill>
              </a:rPr>
              <a:t>HOW IT WAS SOLVED</a:t>
            </a:r>
            <a:endParaRPr lang="en-US" sz="950" dirty="0"/>
          </a:p>
        </p:txBody>
      </p:sp>
      <p:sp>
        <p:nvSpPr>
          <p:cNvPr id="10" name="Text 8"/>
          <p:cNvSpPr txBox="1"/>
          <p:nvPr/>
        </p:nvSpPr>
        <p:spPr>
          <a:xfrm>
            <a:off x="841248" y="4425696"/>
            <a:ext cx="2944368" cy="932688"/>
          </a:xfrm>
          <a:prstGeom prst="rect">
            <a:avLst/>
          </a:prstGeom>
          <a:noFill/>
          <a:ln/>
        </p:spPr>
        <p:txBody>
          <a:bodyPr wrap="square" lIns="0" tIns="0" rIns="0" bIns="0" rtlCol="0" anchor="ctr"/>
          <a:lstStyle/>
          <a:p>
            <a:pPr indent="0" marL="0">
              <a:lnSpc>
                <a:spcPct val="118000"/>
              </a:lnSpc>
              <a:buNone/>
            </a:pPr>
            <a:r>
              <a:rPr lang="en-US" sz="1200" dirty="0">
                <a:solidFill>
                  <a:srgbClr val="64748B"/>
                </a:solidFill>
              </a:rPr>
              <a:t>Match the student deadline specifically, after collapsing whitespace.</a:t>
            </a:r>
            <a:endParaRPr lang="en-US" sz="1200" dirty="0"/>
          </a:p>
        </p:txBody>
      </p:sp>
      <p:sp>
        <p:nvSpPr>
          <p:cNvPr id="11" name="portal-Buddy4Study"/>
          <p:cNvSpPr/>
          <p:nvPr/>
        </p:nvSpPr>
        <p:spPr>
          <a:xfrm>
            <a:off x="4297680" y="1627632"/>
            <a:ext cx="3493008" cy="3895344"/>
          </a:xfrm>
          <a:prstGeom prst="roundRect">
            <a:avLst>
              <a:gd name="adj" fmla="val 2618"/>
            </a:avLst>
          </a:prstGeom>
          <a:solidFill>
            <a:schemeClr val="bg2"/>
          </a:solidFill>
          <a:ln w="12700">
            <a:solidFill>
              <a:srgbClr val="E2E8F0"/>
            </a:solidFill>
            <a:prstDash val="solid"/>
          </a:ln>
        </p:spPr>
      </p:sp>
      <p:sp>
        <p:nvSpPr>
          <p:cNvPr id="12" name="Text 10"/>
          <p:cNvSpPr txBox="1"/>
          <p:nvPr/>
        </p:nvSpPr>
        <p:spPr>
          <a:xfrm>
            <a:off x="4572000" y="1810512"/>
            <a:ext cx="2944368" cy="365760"/>
          </a:xfrm>
          <a:prstGeom prst="rect">
            <a:avLst/>
          </a:prstGeom>
          <a:noFill/>
          <a:ln/>
        </p:spPr>
        <p:txBody>
          <a:bodyPr wrap="square" lIns="0" tIns="0" rIns="0" bIns="0" rtlCol="0" anchor="ctr"/>
          <a:lstStyle/>
          <a:p>
            <a:pPr indent="0" marL="0">
              <a:buNone/>
            </a:pPr>
            <a:r>
              <a:rPr lang="en-US" sz="1800" b="1" dirty="0">
                <a:solidFill>
                  <a:srgbClr val="0F766E"/>
                </a:solidFill>
              </a:rPr>
              <a:t>Buddy4Study</a:t>
            </a:r>
            <a:endParaRPr lang="en-US" sz="1800" dirty="0"/>
          </a:p>
        </p:txBody>
      </p:sp>
      <p:sp>
        <p:nvSpPr>
          <p:cNvPr id="13" name="Text 11"/>
          <p:cNvSpPr txBox="1"/>
          <p:nvPr/>
        </p:nvSpPr>
        <p:spPr>
          <a:xfrm>
            <a:off x="4572000" y="2176272"/>
            <a:ext cx="2944368" cy="274320"/>
          </a:xfrm>
          <a:prstGeom prst="rect">
            <a:avLst/>
          </a:prstGeom>
          <a:noFill/>
          <a:ln/>
        </p:spPr>
        <p:txBody>
          <a:bodyPr wrap="square" lIns="0" tIns="0" rIns="0" bIns="0" rtlCol="0" anchor="ctr"/>
          <a:lstStyle/>
          <a:p>
            <a:pPr indent="0" marL="0">
              <a:buNone/>
            </a:pPr>
            <a:r>
              <a:rPr lang="en-US" sz="1200" b="1" dirty="0">
                <a:solidFill>
                  <a:srgbClr val="64748B"/>
                </a:solidFill>
              </a:rPr>
              <a:t>12 scholarships</a:t>
            </a:r>
            <a:endParaRPr lang="en-US" sz="1200" dirty="0"/>
          </a:p>
        </p:txBody>
      </p:sp>
      <p:sp>
        <p:nvSpPr>
          <p:cNvPr id="14" name="Text 12"/>
          <p:cNvSpPr txBox="1"/>
          <p:nvPr/>
        </p:nvSpPr>
        <p:spPr>
          <a:xfrm>
            <a:off x="4572000" y="2578608"/>
            <a:ext cx="2944368" cy="237744"/>
          </a:xfrm>
          <a:prstGeom prst="rect">
            <a:avLst/>
          </a:prstGeom>
          <a:noFill/>
          <a:ln/>
        </p:spPr>
        <p:txBody>
          <a:bodyPr wrap="square" lIns="0" tIns="0" rIns="0" bIns="0" rtlCol="0" anchor="ctr"/>
          <a:lstStyle/>
          <a:p>
            <a:pPr indent="0" marL="0">
              <a:buNone/>
            </a:pPr>
            <a:r>
              <a:rPr lang="en-US" sz="950" b="1" spc="150" kern="0" dirty="0">
                <a:solidFill>
                  <a:srgbClr val="B45309"/>
                </a:solidFill>
              </a:rPr>
              <a:t>THE PROBLEM</a:t>
            </a:r>
            <a:endParaRPr lang="en-US" sz="950" dirty="0"/>
          </a:p>
        </p:txBody>
      </p:sp>
      <p:sp>
        <p:nvSpPr>
          <p:cNvPr id="15" name="Text 13"/>
          <p:cNvSpPr txBox="1"/>
          <p:nvPr/>
        </p:nvSpPr>
        <p:spPr>
          <a:xfrm>
            <a:off x="4572000" y="2834640"/>
            <a:ext cx="2944368" cy="1298448"/>
          </a:xfrm>
          <a:prstGeom prst="rect">
            <a:avLst/>
          </a:prstGeom>
          <a:noFill/>
          <a:ln/>
        </p:spPr>
        <p:txBody>
          <a:bodyPr wrap="square" lIns="0" tIns="0" rIns="0" bIns="0" rtlCol="0" anchor="ctr"/>
          <a:lstStyle/>
          <a:p>
            <a:pPr indent="0" marL="0">
              <a:lnSpc>
                <a:spcPct val="118000"/>
              </a:lnSpc>
              <a:buNone/>
            </a:pPr>
            <a:r>
              <a:rPr lang="en-US" sz="1200" dirty="0">
                <a:solidFill>
                  <a:srgbClr val="64748B"/>
                </a:solidFill>
              </a:rPr>
              <a:t>Listing rendered entirely in the browser. The delivered HTML holds no scholarships, and the embedded state carries only translation strings.</a:t>
            </a:r>
            <a:endParaRPr lang="en-US" sz="1200" dirty="0"/>
          </a:p>
        </p:txBody>
      </p:sp>
      <p:sp>
        <p:nvSpPr>
          <p:cNvPr id="16" name="Text 14"/>
          <p:cNvSpPr txBox="1"/>
          <p:nvPr/>
        </p:nvSpPr>
        <p:spPr>
          <a:xfrm>
            <a:off x="4572000" y="4169664"/>
            <a:ext cx="2944368" cy="237744"/>
          </a:xfrm>
          <a:prstGeom prst="rect">
            <a:avLst/>
          </a:prstGeom>
          <a:noFill/>
          <a:ln/>
        </p:spPr>
        <p:txBody>
          <a:bodyPr wrap="square" lIns="0" tIns="0" rIns="0" bIns="0" rtlCol="0" anchor="ctr"/>
          <a:lstStyle/>
          <a:p>
            <a:pPr indent="0" marL="0">
              <a:buNone/>
            </a:pPr>
            <a:r>
              <a:rPr lang="en-US" sz="950" b="1" spc="150" kern="0" dirty="0">
                <a:solidFill>
                  <a:srgbClr val="047857"/>
                </a:solidFill>
              </a:rPr>
              <a:t>HOW IT WAS SOLVED</a:t>
            </a:r>
            <a:endParaRPr lang="en-US" sz="950" dirty="0"/>
          </a:p>
        </p:txBody>
      </p:sp>
      <p:sp>
        <p:nvSpPr>
          <p:cNvPr id="17" name="Text 15"/>
          <p:cNvSpPr txBox="1"/>
          <p:nvPr/>
        </p:nvSpPr>
        <p:spPr>
          <a:xfrm>
            <a:off x="4572000" y="4425696"/>
            <a:ext cx="2944368" cy="932688"/>
          </a:xfrm>
          <a:prstGeom prst="rect">
            <a:avLst/>
          </a:prstGeom>
          <a:noFill/>
          <a:ln/>
        </p:spPr>
        <p:txBody>
          <a:bodyPr wrap="square" lIns="0" tIns="0" rIns="0" bIns="0" rtlCol="0" anchor="ctr"/>
          <a:lstStyle/>
          <a:p>
            <a:pPr indent="0" marL="0">
              <a:lnSpc>
                <a:spcPct val="118000"/>
              </a:lnSpc>
              <a:buNone/>
            </a:pPr>
            <a:r>
              <a:rPr lang="en-US" sz="1200" dirty="0">
                <a:solidFill>
                  <a:srgbClr val="64748B"/>
                </a:solidFill>
              </a:rPr>
              <a:t>Its sitemap lists 1,350 scholarship pages, and each one is server-rendered with full data for search engines.</a:t>
            </a:r>
            <a:endParaRPr lang="en-US" sz="1200" dirty="0"/>
          </a:p>
        </p:txBody>
      </p:sp>
      <p:sp>
        <p:nvSpPr>
          <p:cNvPr id="18" name="portal-Vidyasaarathi"/>
          <p:cNvSpPr/>
          <p:nvPr/>
        </p:nvSpPr>
        <p:spPr>
          <a:xfrm>
            <a:off x="8028432" y="1627632"/>
            <a:ext cx="3493008" cy="3895344"/>
          </a:xfrm>
          <a:prstGeom prst="roundRect">
            <a:avLst>
              <a:gd name="adj" fmla="val 2618"/>
            </a:avLst>
          </a:prstGeom>
          <a:solidFill>
            <a:schemeClr val="bg2"/>
          </a:solidFill>
          <a:ln w="12700">
            <a:solidFill>
              <a:srgbClr val="E2E8F0"/>
            </a:solidFill>
            <a:prstDash val="solid"/>
          </a:ln>
        </p:spPr>
      </p:sp>
      <p:sp>
        <p:nvSpPr>
          <p:cNvPr id="19" name="Text 17"/>
          <p:cNvSpPr txBox="1"/>
          <p:nvPr/>
        </p:nvSpPr>
        <p:spPr>
          <a:xfrm>
            <a:off x="8302752" y="1810512"/>
            <a:ext cx="2944368" cy="365760"/>
          </a:xfrm>
          <a:prstGeom prst="rect">
            <a:avLst/>
          </a:prstGeom>
          <a:noFill/>
          <a:ln/>
        </p:spPr>
        <p:txBody>
          <a:bodyPr wrap="square" lIns="0" tIns="0" rIns="0" bIns="0" rtlCol="0" anchor="ctr"/>
          <a:lstStyle/>
          <a:p>
            <a:pPr indent="0" marL="0">
              <a:buNone/>
            </a:pPr>
            <a:r>
              <a:rPr lang="en-US" sz="1800" b="1" dirty="0">
                <a:solidFill>
                  <a:srgbClr val="6D28D9"/>
                </a:solidFill>
              </a:rPr>
              <a:t>Vidyasaarathi</a:t>
            </a:r>
            <a:endParaRPr lang="en-US" sz="1800" dirty="0"/>
          </a:p>
        </p:txBody>
      </p:sp>
      <p:sp>
        <p:nvSpPr>
          <p:cNvPr id="20" name="Text 18"/>
          <p:cNvSpPr txBox="1"/>
          <p:nvPr/>
        </p:nvSpPr>
        <p:spPr>
          <a:xfrm>
            <a:off x="8302752" y="2176272"/>
            <a:ext cx="2944368" cy="274320"/>
          </a:xfrm>
          <a:prstGeom prst="rect">
            <a:avLst/>
          </a:prstGeom>
          <a:noFill/>
          <a:ln/>
        </p:spPr>
        <p:txBody>
          <a:bodyPr wrap="square" lIns="0" tIns="0" rIns="0" bIns="0" rtlCol="0" anchor="ctr"/>
          <a:lstStyle/>
          <a:p>
            <a:pPr indent="0" marL="0">
              <a:buNone/>
            </a:pPr>
            <a:r>
              <a:rPr lang="en-US" sz="1200" b="1" dirty="0">
                <a:solidFill>
                  <a:srgbClr val="64748B"/>
                </a:solidFill>
              </a:rPr>
              <a:t>15 schemes</a:t>
            </a:r>
            <a:endParaRPr lang="en-US" sz="1200" dirty="0"/>
          </a:p>
        </p:txBody>
      </p:sp>
      <p:sp>
        <p:nvSpPr>
          <p:cNvPr id="21" name="Text 19"/>
          <p:cNvSpPr txBox="1"/>
          <p:nvPr/>
        </p:nvSpPr>
        <p:spPr>
          <a:xfrm>
            <a:off x="8302752" y="2578608"/>
            <a:ext cx="2944368" cy="237744"/>
          </a:xfrm>
          <a:prstGeom prst="rect">
            <a:avLst/>
          </a:prstGeom>
          <a:noFill/>
          <a:ln/>
        </p:spPr>
        <p:txBody>
          <a:bodyPr wrap="square" lIns="0" tIns="0" rIns="0" bIns="0" rtlCol="0" anchor="ctr"/>
          <a:lstStyle/>
          <a:p>
            <a:pPr indent="0" marL="0">
              <a:buNone/>
            </a:pPr>
            <a:r>
              <a:rPr lang="en-US" sz="950" b="1" spc="150" kern="0" dirty="0">
                <a:solidFill>
                  <a:srgbClr val="B45309"/>
                </a:solidFill>
              </a:rPr>
              <a:t>THE PROBLEM</a:t>
            </a:r>
            <a:endParaRPr lang="en-US" sz="950" dirty="0"/>
          </a:p>
        </p:txBody>
      </p:sp>
      <p:sp>
        <p:nvSpPr>
          <p:cNvPr id="22" name="Text 20"/>
          <p:cNvSpPr txBox="1"/>
          <p:nvPr/>
        </p:nvSpPr>
        <p:spPr>
          <a:xfrm>
            <a:off x="8302752" y="2834640"/>
            <a:ext cx="2944368" cy="1298448"/>
          </a:xfrm>
          <a:prstGeom prst="rect">
            <a:avLst/>
          </a:prstGeom>
          <a:noFill/>
          <a:ln/>
        </p:spPr>
        <p:txBody>
          <a:bodyPr wrap="square" lIns="0" tIns="0" rIns="0" bIns="0" rtlCol="0" anchor="ctr"/>
          <a:lstStyle/>
          <a:p>
            <a:pPr indent="0" marL="0">
              <a:lnSpc>
                <a:spcPct val="118000"/>
              </a:lnSpc>
              <a:buNone/>
            </a:pPr>
            <a:r>
              <a:rPr lang="en-US" sz="1200" dirty="0">
                <a:solidFill>
                  <a:srgbClr val="64748B"/>
                </a:solidFill>
              </a:rPr>
              <a:t>“Currently No Schemes are Available” appears even when 15 are open — it is a branch inside the page’s own script. Served as ISO-8859-1.</a:t>
            </a:r>
            <a:endParaRPr lang="en-US" sz="1200" dirty="0"/>
          </a:p>
        </p:txBody>
      </p:sp>
      <p:sp>
        <p:nvSpPr>
          <p:cNvPr id="23" name="Text 21"/>
          <p:cNvSpPr txBox="1"/>
          <p:nvPr/>
        </p:nvSpPr>
        <p:spPr>
          <a:xfrm>
            <a:off x="8302752" y="4169664"/>
            <a:ext cx="2944368" cy="237744"/>
          </a:xfrm>
          <a:prstGeom prst="rect">
            <a:avLst/>
          </a:prstGeom>
          <a:noFill/>
          <a:ln/>
        </p:spPr>
        <p:txBody>
          <a:bodyPr wrap="square" lIns="0" tIns="0" rIns="0" bIns="0" rtlCol="0" anchor="ctr"/>
          <a:lstStyle/>
          <a:p>
            <a:pPr indent="0" marL="0">
              <a:buNone/>
            </a:pPr>
            <a:r>
              <a:rPr lang="en-US" sz="950" b="1" spc="150" kern="0" dirty="0">
                <a:solidFill>
                  <a:srgbClr val="047857"/>
                </a:solidFill>
              </a:rPr>
              <a:t>HOW IT WAS SOLVED</a:t>
            </a:r>
            <a:endParaRPr lang="en-US" sz="950" dirty="0"/>
          </a:p>
        </p:txBody>
      </p:sp>
      <p:sp>
        <p:nvSpPr>
          <p:cNvPr id="24" name="Text 22"/>
          <p:cNvSpPr txBox="1"/>
          <p:nvPr/>
        </p:nvSpPr>
        <p:spPr>
          <a:xfrm>
            <a:off x="8302752" y="4425696"/>
            <a:ext cx="2944368" cy="932688"/>
          </a:xfrm>
          <a:prstGeom prst="rect">
            <a:avLst/>
          </a:prstGeom>
          <a:noFill/>
          <a:ln/>
        </p:spPr>
        <p:txBody>
          <a:bodyPr wrap="square" lIns="0" tIns="0" rIns="0" bIns="0" rtlCol="0" anchor="ctr"/>
          <a:lstStyle/>
          <a:p>
            <a:pPr indent="0" marL="0">
              <a:lnSpc>
                <a:spcPct val="118000"/>
              </a:lnSpc>
              <a:buNone/>
            </a:pPr>
            <a:r>
              <a:rPr lang="en-US" sz="1200" dirty="0">
                <a:solidFill>
                  <a:srgbClr val="64748B"/>
                </a:solidFill>
              </a:rPr>
              <a:t>Read the embedded data array; test for emptiness only after stripping scripts.</a:t>
            </a:r>
            <a:endParaRPr lang="en-US" sz="1200" dirty="0"/>
          </a:p>
        </p:txBody>
      </p:sp>
      <p:sp>
        <p:nvSpPr>
          <p:cNvPr id="25" name="Text 23"/>
          <p:cNvSpPr txBox="1"/>
          <p:nvPr/>
        </p:nvSpPr>
        <p:spPr>
          <a:xfrm>
            <a:off x="566928" y="5687568"/>
            <a:ext cx="11055096" cy="402336"/>
          </a:xfrm>
          <a:prstGeom prst="rect">
            <a:avLst/>
          </a:prstGeom>
          <a:noFill/>
          <a:ln/>
        </p:spPr>
        <p:txBody>
          <a:bodyPr wrap="square" lIns="0" tIns="0" rIns="0" bIns="0" rtlCol="0" anchor="ctr"/>
          <a:lstStyle/>
          <a:p>
            <a:pPr indent="0" marL="0">
              <a:buNone/>
            </a:pPr>
            <a:r>
              <a:rPr lang="en-US" sz="1400" i="1" dirty="0">
                <a:solidFill>
                  <a:srgbClr val="4338CA"/>
                </a:solidFill>
              </a:rPr>
              <a:t>Neither solution executes JavaScript: both read what the site already publishes for other purposes.</a:t>
            </a:r>
            <a:endParaRPr lang="en-US" sz="1400" dirty="0"/>
          </a:p>
        </p:txBody>
      </p:sp>
      <p:sp>
        <p:nvSpPr>
          <p:cNvPr id="25" name="Slide Number Placeholder 0"/>
          <p:cNvSpPr>
            <a:spLocks noGrp="1"/>
          </p:cNvSpPr>
          <p:nvPr>
            <p:ph type="sldNum" sz="quarter" idx="4294967295"/>
          </p:nvPr>
        </p:nvSpPr>
        <p:spPr>
          <a:xfrm>
            <a:off x="114757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6C0C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713232"/>
          </a:xfrm>
          <a:prstGeom prst="rect">
            <a:avLst/>
          </a:prstGeom>
          <a:noFill/>
          <a:ln/>
        </p:spPr>
        <p:txBody>
          <a:bodyPr wrap="square" rtlCol="0"/>
          <a:lstStyle/>
          <a:p>
            <a:pPr algn="l" indent="0" marL="0">
              <a:buNone/>
            </a:pPr>
            <a:r>
              <a:rPr lang="en-US" sz="3200" b="1" dirty="0">
                <a:solidFill>
                  <a:schemeClr val="tx1"/>
                </a:solidFill>
              </a:rPr>
              <a:t>What happens when a portal goes down</a:t>
            </a:r>
            <a:endParaRPr lang="en-US" sz="3200" dirty="0"/>
          </a:p>
        </p:txBody>
      </p:sp>
      <p:sp>
        <p:nvSpPr>
          <p:cNvPr id="3" name="Text 0"/>
          <p:cNvSpPr/>
          <p:nvPr>
            <p:ph idx="101" type="body" hasCustomPrompt="1"/>
          </p:nvPr>
        </p:nvSpPr>
        <p:spPr>
          <a:xfrm>
            <a:off x="566928" y="1060704"/>
            <a:ext cx="11055096" cy="365760"/>
          </a:xfrm>
          <a:prstGeom prst="rect">
            <a:avLst/>
          </a:prstGeom>
          <a:noFill/>
          <a:ln/>
        </p:spPr>
        <p:txBody>
          <a:bodyPr wrap="square" rtlCol="0"/>
          <a:lstStyle/>
          <a:p>
            <a:pPr algn="l" indent="0" marL="0">
              <a:buNone/>
            </a:pPr>
            <a:r>
              <a:rPr lang="en-US" sz="1500" dirty="0">
                <a:solidFill>
                  <a:srgbClr val="64748B"/>
                </a:solidFill>
              </a:rPr>
              <a:t>Scraping breaks. The design assumes it, so a failure degrades nothing</a:t>
            </a:r>
            <a:endParaRPr lang="en-US" sz="1500" dirty="0"/>
          </a:p>
        </p:txBody>
      </p:sp>
      <p:pic>
        <p:nvPicPr>
          <p:cNvPr id="4" name="ingest-flow" descr="C:\Users\Atharv\AppData\Local\Temp\claude\c--Users-Atharv-Desktop-ScholarshipScraper\b1f74d13-6d34-408c-a8ff-9649ca74bc0a\scratchpad\docgen\fig_ingest.png">    </p:cNvPr>
          <p:cNvPicPr>
            <a:picLocks noChangeAspect="1"/>
          </p:cNvPicPr>
          <p:nvPr/>
        </p:nvPicPr>
        <p:blipFill>
          <a:blip r:embed="rId1"/>
          <a:stretch>
            <a:fillRect/>
          </a:stretch>
        </p:blipFill>
        <p:spPr>
          <a:xfrm>
            <a:off x="502920" y="1572768"/>
            <a:ext cx="6675120" cy="3856426"/>
          </a:xfrm>
          <a:prstGeom prst="rect">
            <a:avLst/>
          </a:prstGeom>
        </p:spPr>
      </p:pic>
      <p:sp>
        <p:nvSpPr>
          <p:cNvPr id="5" name="Text 2"/>
          <p:cNvSpPr txBox="1"/>
          <p:nvPr/>
        </p:nvSpPr>
        <p:spPr>
          <a:xfrm>
            <a:off x="7543800" y="1783080"/>
            <a:ext cx="4069080" cy="566928"/>
          </a:xfrm>
          <a:prstGeom prst="rect">
            <a:avLst/>
          </a:prstGeom>
          <a:noFill/>
          <a:ln/>
        </p:spPr>
        <p:txBody>
          <a:bodyPr wrap="square" lIns="0" tIns="0" rIns="0" bIns="0" rtlCol="0" anchor="ctr"/>
          <a:lstStyle/>
          <a:p>
            <a:pPr indent="0" marL="0">
              <a:buNone/>
            </a:pPr>
            <a:r>
              <a:rPr lang="en-US" sz="1500" b="1" dirty="0">
                <a:solidFill>
                  <a:srgbClr val="B45309"/>
                </a:solidFill>
              </a:rPr>
              <a:t>Failure is not absence</a:t>
            </a:r>
            <a:endParaRPr lang="en-US" sz="1500" dirty="0"/>
          </a:p>
        </p:txBody>
      </p:sp>
      <p:sp>
        <p:nvSpPr>
          <p:cNvPr id="6" name="Text 3"/>
          <p:cNvSpPr txBox="1"/>
          <p:nvPr/>
        </p:nvSpPr>
        <p:spPr>
          <a:xfrm>
            <a:off x="7543800" y="2350008"/>
            <a:ext cx="4069080" cy="777240"/>
          </a:xfrm>
          <a:prstGeom prst="rect">
            <a:avLst/>
          </a:prstGeom>
          <a:noFill/>
          <a:ln/>
        </p:spPr>
        <p:txBody>
          <a:bodyPr wrap="square" lIns="0" tIns="0" rIns="0" bIns="0" rtlCol="0" anchor="ctr"/>
          <a:lstStyle/>
          <a:p>
            <a:pPr indent="0" marL="0">
              <a:lnSpc>
                <a:spcPct val="120000"/>
              </a:lnSpc>
              <a:buNone/>
            </a:pPr>
            <a:r>
              <a:rPr lang="en-US" sz="1250" dirty="0">
                <a:solidFill>
                  <a:srgbClr val="64748B"/>
                </a:solidFill>
              </a:rPr>
              <a:t>The obvious implementation — mark anything not seen as closed — deletes a whole catalogue the first time a site is unreachable.</a:t>
            </a:r>
            <a:endParaRPr lang="en-US" sz="1250" dirty="0"/>
          </a:p>
        </p:txBody>
      </p:sp>
      <p:sp>
        <p:nvSpPr>
          <p:cNvPr id="7" name="Text 4"/>
          <p:cNvSpPr txBox="1"/>
          <p:nvPr/>
        </p:nvSpPr>
        <p:spPr>
          <a:xfrm>
            <a:off x="7543800" y="3154680"/>
            <a:ext cx="4069080" cy="566928"/>
          </a:xfrm>
          <a:prstGeom prst="rect">
            <a:avLst/>
          </a:prstGeom>
          <a:noFill/>
          <a:ln/>
        </p:spPr>
        <p:txBody>
          <a:bodyPr wrap="square" lIns="0" tIns="0" rIns="0" bIns="0" rtlCol="0" anchor="ctr"/>
          <a:lstStyle/>
          <a:p>
            <a:pPr indent="0" marL="0">
              <a:buNone/>
            </a:pPr>
            <a:r>
              <a:rPr lang="en-US" sz="1500" b="1" dirty="0">
                <a:solidFill>
                  <a:srgbClr val="4338CA"/>
                </a:solidFill>
              </a:rPr>
              <a:t>Only a source that returned data may retire its own rows</a:t>
            </a:r>
            <a:endParaRPr lang="en-US" sz="1500" dirty="0"/>
          </a:p>
        </p:txBody>
      </p:sp>
      <p:sp>
        <p:nvSpPr>
          <p:cNvPr id="8" name="Text 5"/>
          <p:cNvSpPr txBox="1"/>
          <p:nvPr/>
        </p:nvSpPr>
        <p:spPr>
          <a:xfrm>
            <a:off x="7543800" y="3721608"/>
            <a:ext cx="4069080" cy="777240"/>
          </a:xfrm>
          <a:prstGeom prst="rect">
            <a:avLst/>
          </a:prstGeom>
          <a:noFill/>
          <a:ln/>
        </p:spPr>
        <p:txBody>
          <a:bodyPr wrap="square" lIns="0" tIns="0" rIns="0" bIns="0" rtlCol="0" anchor="ctr"/>
          <a:lstStyle/>
          <a:p>
            <a:pPr indent="0" marL="0">
              <a:lnSpc>
                <a:spcPct val="120000"/>
              </a:lnSpc>
              <a:buNone/>
            </a:pPr>
            <a:r>
              <a:rPr lang="en-US" sz="1250" dirty="0">
                <a:solidFill>
                  <a:srgbClr val="64748B"/>
                </a:solidFill>
              </a:rPr>
              <a:t>A scraper that raises, or returns nothing, changes nothing.</a:t>
            </a:r>
            <a:endParaRPr lang="en-US" sz="1250" dirty="0"/>
          </a:p>
        </p:txBody>
      </p:sp>
      <p:sp>
        <p:nvSpPr>
          <p:cNvPr id="9" name="Text 6"/>
          <p:cNvSpPr txBox="1"/>
          <p:nvPr/>
        </p:nvSpPr>
        <p:spPr>
          <a:xfrm>
            <a:off x="7543800" y="4526280"/>
            <a:ext cx="4069080" cy="566928"/>
          </a:xfrm>
          <a:prstGeom prst="rect">
            <a:avLst/>
          </a:prstGeom>
          <a:noFill/>
          <a:ln/>
        </p:spPr>
        <p:txBody>
          <a:bodyPr wrap="square" lIns="0" tIns="0" rIns="0" bIns="0" rtlCol="0" anchor="ctr"/>
          <a:lstStyle/>
          <a:p>
            <a:pPr indent="0" marL="0">
              <a:buNone/>
            </a:pPr>
            <a:r>
              <a:rPr lang="en-US" sz="1500" b="1" dirty="0">
                <a:solidFill>
                  <a:srgbClr val="047857"/>
                </a:solidFill>
              </a:rPr>
              <a:t>A verified fallback of 75 scholarships</a:t>
            </a:r>
            <a:endParaRPr lang="en-US" sz="1500" dirty="0"/>
          </a:p>
        </p:txBody>
      </p:sp>
      <p:sp>
        <p:nvSpPr>
          <p:cNvPr id="10" name="Text 7"/>
          <p:cNvSpPr txBox="1"/>
          <p:nvPr/>
        </p:nvSpPr>
        <p:spPr>
          <a:xfrm>
            <a:off x="7543800" y="5093208"/>
            <a:ext cx="4069080" cy="777240"/>
          </a:xfrm>
          <a:prstGeom prst="rect">
            <a:avLst/>
          </a:prstGeom>
          <a:noFill/>
          <a:ln/>
        </p:spPr>
        <p:txBody>
          <a:bodyPr wrap="square" lIns="0" tIns="0" rIns="0" bIns="0" rtlCol="0" anchor="ctr"/>
          <a:lstStyle/>
          <a:p>
            <a:pPr indent="0" marL="0">
              <a:lnSpc>
                <a:spcPct val="120000"/>
              </a:lnSpc>
              <a:buNone/>
            </a:pPr>
            <a:r>
              <a:rPr lang="en-US" sz="1250" dirty="0">
                <a:solidFill>
                  <a:srgbClr val="64748B"/>
                </a:solidFill>
              </a:rPr>
              <a:t>With all three portals failing, the dashboard still lists real scholarships in deadline order.</a:t>
            </a:r>
            <a:endParaRPr lang="en-US" sz="1250" dirty="0"/>
          </a:p>
        </p:txBody>
      </p:sp>
      <p:sp>
        <p:nvSpPr>
          <p:cNvPr id="25" name="Slide Number Placeholder 0"/>
          <p:cNvSpPr>
            <a:spLocks noGrp="1"/>
          </p:cNvSpPr>
          <p:nvPr>
            <p:ph type="sldNum" sz="quarter" idx="4294967295"/>
          </p:nvPr>
        </p:nvSpPr>
        <p:spPr>
          <a:xfrm>
            <a:off x="114757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6C0C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713232"/>
          </a:xfrm>
          <a:prstGeom prst="rect">
            <a:avLst/>
          </a:prstGeom>
          <a:noFill/>
          <a:ln/>
        </p:spPr>
        <p:txBody>
          <a:bodyPr wrap="square" rtlCol="0"/>
          <a:lstStyle/>
          <a:p>
            <a:pPr algn="l" indent="0" marL="0">
              <a:buNone/>
            </a:pPr>
            <a:r>
              <a:rPr lang="en-US" sz="3200" b="1" dirty="0">
                <a:solidFill>
                  <a:schemeClr val="tx1"/>
                </a:solidFill>
              </a:rPr>
              <a:t>What the system delivers</a:t>
            </a:r>
            <a:endParaRPr lang="en-US" sz="3200" dirty="0"/>
          </a:p>
        </p:txBody>
      </p:sp>
      <p:sp>
        <p:nvSpPr>
          <p:cNvPr id="3" name="Text 0"/>
          <p:cNvSpPr/>
          <p:nvPr>
            <p:ph idx="101" type="body" hasCustomPrompt="1"/>
          </p:nvPr>
        </p:nvSpPr>
        <p:spPr>
          <a:xfrm>
            <a:off x="566928" y="1060704"/>
            <a:ext cx="11055096" cy="365760"/>
          </a:xfrm>
          <a:prstGeom prst="rect">
            <a:avLst/>
          </a:prstGeom>
          <a:noFill/>
          <a:ln/>
        </p:spPr>
        <p:txBody>
          <a:bodyPr wrap="square" rtlCol="0"/>
          <a:lstStyle/>
          <a:p>
            <a:pPr algn="l" indent="0" marL="0">
              <a:buNone/>
            </a:pPr>
            <a:r>
              <a:rPr lang="en-US" sz="1500" dirty="0">
                <a:solidFill>
                  <a:srgbClr val="64748B"/>
                </a:solidFill>
              </a:rPr>
              <a:t>Measured against the live portals on 17 October 2026</a:t>
            </a:r>
            <a:endParaRPr lang="en-US" sz="1500" dirty="0"/>
          </a:p>
        </p:txBody>
      </p:sp>
      <p:sp>
        <p:nvSpPr>
          <p:cNvPr id="4" name="stat-0"/>
          <p:cNvSpPr/>
          <p:nvPr/>
        </p:nvSpPr>
        <p:spPr>
          <a:xfrm>
            <a:off x="566928" y="1664208"/>
            <a:ext cx="2615184" cy="1901952"/>
          </a:xfrm>
          <a:prstGeom prst="roundRect">
            <a:avLst>
              <a:gd name="adj" fmla="val 4808"/>
            </a:avLst>
          </a:prstGeom>
          <a:solidFill>
            <a:schemeClr val="bg2"/>
          </a:solidFill>
          <a:ln w="12700">
            <a:solidFill>
              <a:srgbClr val="E2E8F0"/>
            </a:solidFill>
            <a:prstDash val="solid"/>
          </a:ln>
        </p:spPr>
      </p:sp>
      <p:sp>
        <p:nvSpPr>
          <p:cNvPr id="5" name="Text 3"/>
          <p:cNvSpPr txBox="1"/>
          <p:nvPr/>
        </p:nvSpPr>
        <p:spPr>
          <a:xfrm>
            <a:off x="566928" y="1783080"/>
            <a:ext cx="2615184" cy="841248"/>
          </a:xfrm>
          <a:prstGeom prst="rect">
            <a:avLst/>
          </a:prstGeom>
          <a:noFill/>
          <a:ln/>
        </p:spPr>
        <p:txBody>
          <a:bodyPr wrap="square" lIns="0" tIns="0" rIns="0" bIns="0" rtlCol="0" anchor="b"/>
          <a:lstStyle/>
          <a:p>
            <a:pPr algn="ctr" indent="0" marL="0">
              <a:buNone/>
            </a:pPr>
            <a:r>
              <a:rPr lang="en-US" sz="5400" b="1" dirty="0">
                <a:solidFill>
                  <a:srgbClr val="4338CA"/>
                </a:solidFill>
              </a:rPr>
              <a:t>58</a:t>
            </a:r>
            <a:endParaRPr lang="en-US" sz="5400" dirty="0"/>
          </a:p>
        </p:txBody>
      </p:sp>
      <p:sp>
        <p:nvSpPr>
          <p:cNvPr id="6" name="Text 4"/>
          <p:cNvSpPr txBox="1"/>
          <p:nvPr/>
        </p:nvSpPr>
        <p:spPr>
          <a:xfrm>
            <a:off x="566928" y="2651760"/>
            <a:ext cx="2615184" cy="566928"/>
          </a:xfrm>
          <a:prstGeom prst="rect">
            <a:avLst/>
          </a:prstGeom>
          <a:noFill/>
          <a:ln/>
        </p:spPr>
        <p:txBody>
          <a:bodyPr wrap="square" lIns="0" tIns="0" rIns="0" bIns="0" rtlCol="0" anchor="t"/>
          <a:lstStyle/>
          <a:p>
            <a:pPr algn="ctr" indent="0" marL="0">
              <a:buNone/>
            </a:pPr>
            <a:r>
              <a:rPr lang="en-US" sz="1300" dirty="0">
                <a:solidFill>
                  <a:srgbClr val="64748B"/>
                </a:solidFill>
              </a:rPr>
              <a:t>open scholarships</a:t>
            </a:r>
            <a:endParaRPr lang="en-US" sz="1300" dirty="0"/>
          </a:p>
          <a:p>
            <a:pPr algn="ctr" indent="0" marL="0">
              <a:buNone/>
            </a:pPr>
            <a:r>
              <a:rPr lang="en-US" sz="1300" dirty="0">
                <a:solidFill>
                  <a:srgbClr val="64748B"/>
                </a:solidFill>
              </a:rPr>
              <a:t>in one refresh</a:t>
            </a:r>
            <a:endParaRPr lang="en-US" sz="1300" dirty="0"/>
          </a:p>
        </p:txBody>
      </p:sp>
      <p:sp>
        <p:nvSpPr>
          <p:cNvPr id="7" name="stat-1"/>
          <p:cNvSpPr/>
          <p:nvPr/>
        </p:nvSpPr>
        <p:spPr>
          <a:xfrm>
            <a:off x="3419856" y="1664208"/>
            <a:ext cx="2615184" cy="1901952"/>
          </a:xfrm>
          <a:prstGeom prst="roundRect">
            <a:avLst>
              <a:gd name="adj" fmla="val 4808"/>
            </a:avLst>
          </a:prstGeom>
          <a:solidFill>
            <a:schemeClr val="bg2"/>
          </a:solidFill>
          <a:ln w="12700">
            <a:solidFill>
              <a:srgbClr val="E2E8F0"/>
            </a:solidFill>
            <a:prstDash val="solid"/>
          </a:ln>
        </p:spPr>
      </p:sp>
      <p:sp>
        <p:nvSpPr>
          <p:cNvPr id="8" name="Text 6"/>
          <p:cNvSpPr txBox="1"/>
          <p:nvPr/>
        </p:nvSpPr>
        <p:spPr>
          <a:xfrm>
            <a:off x="3419856" y="1783080"/>
            <a:ext cx="2615184" cy="841248"/>
          </a:xfrm>
          <a:prstGeom prst="rect">
            <a:avLst/>
          </a:prstGeom>
          <a:noFill/>
          <a:ln/>
        </p:spPr>
        <p:txBody>
          <a:bodyPr wrap="square" lIns="0" tIns="0" rIns="0" bIns="0" rtlCol="0" anchor="b"/>
          <a:lstStyle/>
          <a:p>
            <a:pPr algn="ctr" indent="0" marL="0">
              <a:buNone/>
            </a:pPr>
            <a:r>
              <a:rPr lang="en-US" sz="5400" b="1" dirty="0">
                <a:solidFill>
                  <a:srgbClr val="0F766E"/>
                </a:solidFill>
              </a:rPr>
              <a:t>3</a:t>
            </a:r>
            <a:endParaRPr lang="en-US" sz="5400" dirty="0"/>
          </a:p>
        </p:txBody>
      </p:sp>
      <p:sp>
        <p:nvSpPr>
          <p:cNvPr id="9" name="Text 7"/>
          <p:cNvSpPr txBox="1"/>
          <p:nvPr/>
        </p:nvSpPr>
        <p:spPr>
          <a:xfrm>
            <a:off x="3419856" y="2651760"/>
            <a:ext cx="2615184" cy="566928"/>
          </a:xfrm>
          <a:prstGeom prst="rect">
            <a:avLst/>
          </a:prstGeom>
          <a:noFill/>
          <a:ln/>
        </p:spPr>
        <p:txBody>
          <a:bodyPr wrap="square" lIns="0" tIns="0" rIns="0" bIns="0" rtlCol="0" anchor="t"/>
          <a:lstStyle/>
          <a:p>
            <a:pPr algn="ctr" indent="0" marL="0">
              <a:buNone/>
            </a:pPr>
            <a:r>
              <a:rPr lang="en-US" sz="1300" dirty="0">
                <a:solidFill>
                  <a:srgbClr val="64748B"/>
                </a:solidFill>
              </a:rPr>
              <a:t>live portals</a:t>
            </a:r>
            <a:endParaRPr lang="en-US" sz="1300" dirty="0"/>
          </a:p>
          <a:p>
            <a:pPr algn="ctr" indent="0" marL="0">
              <a:buNone/>
            </a:pPr>
            <a:r>
              <a:rPr lang="en-US" sz="1300" dirty="0">
                <a:solidFill>
                  <a:srgbClr val="64748B"/>
                </a:solidFill>
              </a:rPr>
              <a:t>aggregated</a:t>
            </a:r>
            <a:endParaRPr lang="en-US" sz="1300" dirty="0"/>
          </a:p>
        </p:txBody>
      </p:sp>
      <p:sp>
        <p:nvSpPr>
          <p:cNvPr id="10" name="stat-2"/>
          <p:cNvSpPr/>
          <p:nvPr/>
        </p:nvSpPr>
        <p:spPr>
          <a:xfrm>
            <a:off x="6272784" y="1664208"/>
            <a:ext cx="2615184" cy="1901952"/>
          </a:xfrm>
          <a:prstGeom prst="roundRect">
            <a:avLst>
              <a:gd name="adj" fmla="val 4808"/>
            </a:avLst>
          </a:prstGeom>
          <a:solidFill>
            <a:schemeClr val="bg2"/>
          </a:solidFill>
          <a:ln w="12700">
            <a:solidFill>
              <a:srgbClr val="E2E8F0"/>
            </a:solidFill>
            <a:prstDash val="solid"/>
          </a:ln>
        </p:spPr>
      </p:sp>
      <p:sp>
        <p:nvSpPr>
          <p:cNvPr id="11" name="Text 9"/>
          <p:cNvSpPr txBox="1"/>
          <p:nvPr/>
        </p:nvSpPr>
        <p:spPr>
          <a:xfrm>
            <a:off x="6272784" y="1783080"/>
            <a:ext cx="2615184" cy="841248"/>
          </a:xfrm>
          <a:prstGeom prst="rect">
            <a:avLst/>
          </a:prstGeom>
          <a:noFill/>
          <a:ln/>
        </p:spPr>
        <p:txBody>
          <a:bodyPr wrap="square" lIns="0" tIns="0" rIns="0" bIns="0" rtlCol="0" anchor="b"/>
          <a:lstStyle/>
          <a:p>
            <a:pPr algn="ctr" indent="0" marL="0">
              <a:buNone/>
            </a:pPr>
            <a:r>
              <a:rPr lang="en-US" sz="5400" b="1" dirty="0">
                <a:solidFill>
                  <a:srgbClr val="6D28D9"/>
                </a:solidFill>
              </a:rPr>
              <a:t>75</a:t>
            </a:r>
            <a:endParaRPr lang="en-US" sz="5400" dirty="0"/>
          </a:p>
        </p:txBody>
      </p:sp>
      <p:sp>
        <p:nvSpPr>
          <p:cNvPr id="12" name="Text 10"/>
          <p:cNvSpPr txBox="1"/>
          <p:nvPr/>
        </p:nvSpPr>
        <p:spPr>
          <a:xfrm>
            <a:off x="6272784" y="2651760"/>
            <a:ext cx="2615184" cy="566928"/>
          </a:xfrm>
          <a:prstGeom prst="rect">
            <a:avLst/>
          </a:prstGeom>
          <a:noFill/>
          <a:ln/>
        </p:spPr>
        <p:txBody>
          <a:bodyPr wrap="square" lIns="0" tIns="0" rIns="0" bIns="0" rtlCol="0" anchor="t"/>
          <a:lstStyle/>
          <a:p>
            <a:pPr algn="ctr" indent="0" marL="0">
              <a:buNone/>
            </a:pPr>
            <a:r>
              <a:rPr lang="en-US" sz="1300" dirty="0">
                <a:solidFill>
                  <a:srgbClr val="64748B"/>
                </a:solidFill>
              </a:rPr>
              <a:t>verified fallback</a:t>
            </a:r>
            <a:endParaRPr lang="en-US" sz="1300" dirty="0"/>
          </a:p>
          <a:p>
            <a:pPr algn="ctr" indent="0" marL="0">
              <a:buNone/>
            </a:pPr>
            <a:r>
              <a:rPr lang="en-US" sz="1300" dirty="0">
                <a:solidFill>
                  <a:srgbClr val="64748B"/>
                </a:solidFill>
              </a:rPr>
              <a:t>records</a:t>
            </a:r>
            <a:endParaRPr lang="en-US" sz="1300" dirty="0"/>
          </a:p>
        </p:txBody>
      </p:sp>
      <p:sp>
        <p:nvSpPr>
          <p:cNvPr id="13" name="stat-3"/>
          <p:cNvSpPr/>
          <p:nvPr/>
        </p:nvSpPr>
        <p:spPr>
          <a:xfrm>
            <a:off x="9125712" y="1664208"/>
            <a:ext cx="2615184" cy="1901952"/>
          </a:xfrm>
          <a:prstGeom prst="roundRect">
            <a:avLst>
              <a:gd name="adj" fmla="val 4808"/>
            </a:avLst>
          </a:prstGeom>
          <a:solidFill>
            <a:schemeClr val="bg2"/>
          </a:solidFill>
          <a:ln w="12700">
            <a:solidFill>
              <a:srgbClr val="E2E8F0"/>
            </a:solidFill>
            <a:prstDash val="solid"/>
          </a:ln>
        </p:spPr>
      </p:sp>
      <p:sp>
        <p:nvSpPr>
          <p:cNvPr id="14" name="Text 12"/>
          <p:cNvSpPr txBox="1"/>
          <p:nvPr/>
        </p:nvSpPr>
        <p:spPr>
          <a:xfrm>
            <a:off x="9125712" y="1783080"/>
            <a:ext cx="2615184" cy="841248"/>
          </a:xfrm>
          <a:prstGeom prst="rect">
            <a:avLst/>
          </a:prstGeom>
          <a:noFill/>
          <a:ln/>
        </p:spPr>
        <p:txBody>
          <a:bodyPr wrap="square" lIns="0" tIns="0" rIns="0" bIns="0" rtlCol="0" anchor="b"/>
          <a:lstStyle/>
          <a:p>
            <a:pPr algn="ctr" indent="0" marL="0">
              <a:buNone/>
            </a:pPr>
            <a:r>
              <a:rPr lang="en-US" sz="5400" b="1" dirty="0">
                <a:solidFill>
                  <a:srgbClr val="047857"/>
                </a:solidFill>
              </a:rPr>
              <a:t>157</a:t>
            </a:r>
            <a:endParaRPr lang="en-US" sz="5400" dirty="0"/>
          </a:p>
        </p:txBody>
      </p:sp>
      <p:sp>
        <p:nvSpPr>
          <p:cNvPr id="15" name="Text 13"/>
          <p:cNvSpPr txBox="1"/>
          <p:nvPr/>
        </p:nvSpPr>
        <p:spPr>
          <a:xfrm>
            <a:off x="9125712" y="2651760"/>
            <a:ext cx="2615184" cy="566928"/>
          </a:xfrm>
          <a:prstGeom prst="rect">
            <a:avLst/>
          </a:prstGeom>
          <a:noFill/>
          <a:ln/>
        </p:spPr>
        <p:txBody>
          <a:bodyPr wrap="square" lIns="0" tIns="0" rIns="0" bIns="0" rtlCol="0" anchor="t"/>
          <a:lstStyle/>
          <a:p>
            <a:pPr algn="ctr" indent="0" marL="0">
              <a:buNone/>
            </a:pPr>
            <a:r>
              <a:rPr lang="en-US" sz="1300" dirty="0">
                <a:solidFill>
                  <a:srgbClr val="64748B"/>
                </a:solidFill>
              </a:rPr>
              <a:t>automated tests,</a:t>
            </a:r>
            <a:endParaRPr lang="en-US" sz="1300" dirty="0"/>
          </a:p>
          <a:p>
            <a:pPr algn="ctr" indent="0" marL="0">
              <a:buNone/>
            </a:pPr>
            <a:r>
              <a:rPr lang="en-US" sz="1300" dirty="0">
                <a:solidFill>
                  <a:srgbClr val="64748B"/>
                </a:solidFill>
              </a:rPr>
              <a:t>all passing</a:t>
            </a:r>
            <a:endParaRPr lang="en-US" sz="1300" dirty="0"/>
          </a:p>
        </p:txBody>
      </p:sp>
      <p:sp>
        <p:nvSpPr>
          <p:cNvPr id="16" name="Text 14"/>
          <p:cNvSpPr txBox="1"/>
          <p:nvPr/>
        </p:nvSpPr>
        <p:spPr>
          <a:xfrm>
            <a:off x="566928" y="3858768"/>
            <a:ext cx="5486400" cy="329184"/>
          </a:xfrm>
          <a:prstGeom prst="rect">
            <a:avLst/>
          </a:prstGeom>
          <a:noFill/>
          <a:ln/>
        </p:spPr>
        <p:txBody>
          <a:bodyPr wrap="square" lIns="0" tIns="0" rIns="0" bIns="0" rtlCol="0" anchor="ctr"/>
          <a:lstStyle/>
          <a:p>
            <a:pPr indent="0" marL="0">
              <a:buNone/>
            </a:pPr>
            <a:r>
              <a:rPr lang="en-US" sz="1600" b="1" dirty="0">
                <a:solidFill>
                  <a:schemeClr val="tx1"/>
                </a:solidFill>
              </a:rPr>
              <a:t>Objectives met</a:t>
            </a:r>
            <a:endParaRPr lang="en-US" sz="1600" dirty="0"/>
          </a:p>
        </p:txBody>
      </p:sp>
      <p:sp>
        <p:nvSpPr>
          <p:cNvPr id="17" name="Text 15"/>
          <p:cNvSpPr txBox="1"/>
          <p:nvPr/>
        </p:nvSpPr>
        <p:spPr>
          <a:xfrm>
            <a:off x="566928" y="4224528"/>
            <a:ext cx="11055096" cy="160020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64748B"/>
                </a:solidFill>
              </a:rPr>
              <a:t>Nearest deadline first, expired hidden — verified by test and by inspection</a:t>
            </a:r>
            <a:endParaRPr lang="en-US" sz="1300" dirty="0"/>
          </a:p>
          <a:p>
            <a:pPr marL="342900" indent="-342900">
              <a:spcAft>
                <a:spcPts val="700"/>
              </a:spcAft>
              <a:buSzPct val="100000"/>
              <a:buChar char="✓"/>
            </a:pPr>
            <a:r>
              <a:rPr lang="en-US" sz="1300" dirty="0">
                <a:solidFill>
                  <a:srgbClr val="64748B"/>
                </a:solidFill>
              </a:rPr>
              <a:t>Every Apply opens a scholarship-specific page; two portals with no public page show the scheme name to select</a:t>
            </a:r>
            <a:endParaRPr lang="en-US" sz="1300" dirty="0"/>
          </a:p>
          <a:p>
            <a:pPr marL="342900" indent="-342900">
              <a:spcAft>
                <a:spcPts val="700"/>
              </a:spcAft>
              <a:buSzPct val="100000"/>
              <a:buChar char="✓"/>
            </a:pPr>
            <a:r>
              <a:rPr lang="en-US" sz="1300" dirty="0">
                <a:solidFill>
                  <a:srgbClr val="64748B"/>
                </a:solidFill>
              </a:rPr>
              <a:t>A failing portal leaves its own records untouched; all three failing still yields a working dashboard</a:t>
            </a:r>
            <a:endParaRPr lang="en-US" sz="1300" dirty="0"/>
          </a:p>
          <a:p>
            <a:pPr marL="342900" indent="-342900">
              <a:spcAft>
                <a:spcPts val="700"/>
              </a:spcAft>
              <a:buSzPct val="100000"/>
              <a:buChar char="✓"/>
            </a:pPr>
            <a:r>
              <a:rPr lang="en-US" sz="1300" dirty="0">
                <a:solidFill>
                  <a:srgbClr val="64748B"/>
                </a:solidFill>
              </a:rPr>
              <a:t>No Aadhaar number, no full account number, no plaintext password — enforced at the schema level</a:t>
            </a:r>
            <a:endParaRPr lang="en-US" sz="1300" dirty="0"/>
          </a:p>
        </p:txBody>
      </p:sp>
      <p:sp>
        <p:nvSpPr>
          <p:cNvPr id="25" name="Slide Number Placeholder 0"/>
          <p:cNvSpPr>
            <a:spLocks noGrp="1"/>
          </p:cNvSpPr>
          <p:nvPr>
            <p:ph type="sldNum" sz="quarter" idx="4294967295"/>
          </p:nvPr>
        </p:nvSpPr>
        <p:spPr>
          <a:xfrm>
            <a:off x="114757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6C0C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658368"/>
            <a:ext cx="8229600" cy="310896"/>
          </a:xfrm>
          <a:prstGeom prst="rect">
            <a:avLst/>
          </a:prstGeom>
          <a:noFill/>
          <a:ln/>
        </p:spPr>
        <p:txBody>
          <a:bodyPr wrap="square" lIns="0" tIns="0" rIns="0" bIns="0" rtlCol="0" anchor="ctr"/>
          <a:lstStyle/>
          <a:p>
            <a:pPr indent="0" marL="0">
              <a:buNone/>
            </a:pPr>
            <a:r>
              <a:rPr lang="en-US" sz="1300" b="1" spc="300" kern="0" dirty="0">
                <a:solidFill>
                  <a:srgbClr val="0F766E"/>
                </a:solidFill>
              </a:rPr>
              <a:t>HONEST LIMITS AND WHAT COMES NEXT</a:t>
            </a:r>
            <a:endParaRPr lang="en-US" sz="1300" dirty="0"/>
          </a:p>
        </p:txBody>
      </p:sp>
      <p:sp>
        <p:nvSpPr>
          <p:cNvPr id="3" name="Text 1"/>
          <p:cNvSpPr txBox="1"/>
          <p:nvPr/>
        </p:nvSpPr>
        <p:spPr>
          <a:xfrm>
            <a:off x="566928" y="1024128"/>
            <a:ext cx="11055096" cy="731520"/>
          </a:xfrm>
          <a:prstGeom prst="rect">
            <a:avLst/>
          </a:prstGeom>
          <a:noFill/>
          <a:ln/>
        </p:spPr>
        <p:txBody>
          <a:bodyPr wrap="square" lIns="0" tIns="0" rIns="0" bIns="0" rtlCol="0" anchor="ctr"/>
          <a:lstStyle/>
          <a:p>
            <a:pPr indent="0" marL="0">
              <a:buNone/>
            </a:pPr>
            <a:r>
              <a:rPr lang="en-US" sz="3400" b="1" dirty="0">
                <a:solidFill>
                  <a:srgbClr val="FFFFFF"/>
                </a:solidFill>
              </a:rPr>
              <a:t>Where it stops, and where it goes</a:t>
            </a:r>
            <a:endParaRPr lang="en-US" sz="3400" dirty="0"/>
          </a:p>
        </p:txBody>
      </p:sp>
      <p:sp>
        <p:nvSpPr>
          <p:cNvPr id="4" name="Text 2"/>
          <p:cNvSpPr txBox="1"/>
          <p:nvPr/>
        </p:nvSpPr>
        <p:spPr>
          <a:xfrm>
            <a:off x="566928" y="2084832"/>
            <a:ext cx="5212080" cy="365760"/>
          </a:xfrm>
          <a:prstGeom prst="rect">
            <a:avLst/>
          </a:prstGeom>
          <a:noFill/>
          <a:ln/>
        </p:spPr>
        <p:txBody>
          <a:bodyPr wrap="square" lIns="0" tIns="0" rIns="0" bIns="0" rtlCol="0" anchor="ctr"/>
          <a:lstStyle/>
          <a:p>
            <a:pPr indent="0" marL="0">
              <a:buNone/>
            </a:pPr>
            <a:r>
              <a:rPr lang="en-US" sz="1800" b="1" dirty="0">
                <a:solidFill>
                  <a:srgbClr val="B45309"/>
                </a:solidFill>
              </a:rPr>
              <a:t>Limitations</a:t>
            </a:r>
            <a:endParaRPr lang="en-US" sz="1800" dirty="0"/>
          </a:p>
        </p:txBody>
      </p:sp>
      <p:sp>
        <p:nvSpPr>
          <p:cNvPr id="5" name="Text 3"/>
          <p:cNvSpPr txBox="1"/>
          <p:nvPr/>
        </p:nvSpPr>
        <p:spPr>
          <a:xfrm>
            <a:off x="566928" y="2542032"/>
            <a:ext cx="5303520" cy="2468880"/>
          </a:xfrm>
          <a:prstGeom prst="rect">
            <a:avLst/>
          </a:prstGeom>
          <a:noFill/>
          <a:ln/>
        </p:spPr>
        <p:txBody>
          <a:bodyPr wrap="square" lIns="0" tIns="0" rIns="0" bIns="0" rtlCol="0" anchor="ctr"/>
          <a:lstStyle/>
          <a:p>
            <a:pPr marL="342900" indent="-342900">
              <a:lnSpc>
                <a:spcPct val="115000"/>
              </a:lnSpc>
              <a:spcAft>
                <a:spcPts val="900"/>
              </a:spcAft>
              <a:buSzPct val="100000"/>
              <a:buChar char="•"/>
            </a:pPr>
            <a:r>
              <a:rPr lang="en-US" sz="1300" dirty="0">
                <a:solidFill>
                  <a:srgbClr val="CBD5E1"/>
                </a:solidFill>
              </a:rPr>
              <a:t>Buddy4Study coverage is partial — the crawl is bounded to fit the function time limit</a:t>
            </a:r>
            <a:endParaRPr lang="en-US" sz="1300" dirty="0"/>
          </a:p>
          <a:p>
            <a:pPr marL="342900" indent="-342900">
              <a:lnSpc>
                <a:spcPct val="115000"/>
              </a:lnSpc>
              <a:spcAft>
                <a:spcPts val="900"/>
              </a:spcAft>
              <a:buSzPct val="100000"/>
              <a:buChar char="•"/>
            </a:pPr>
            <a:r>
              <a:rPr lang="en-US" sz="1300" dirty="0">
                <a:solidFill>
                  <a:srgbClr val="CBD5E1"/>
                </a:solidFill>
              </a:rPr>
              <a:t>NSP and Vidyasaarathi publish no per-scheme page, so Apply opens the correct entry point plus the scheme name</a:t>
            </a:r>
            <a:endParaRPr lang="en-US" sz="1300" dirty="0"/>
          </a:p>
          <a:p>
            <a:pPr marL="342900" indent="-342900">
              <a:lnSpc>
                <a:spcPct val="115000"/>
              </a:lnSpc>
              <a:spcAft>
                <a:spcPts val="900"/>
              </a:spcAft>
              <a:buSzPct val="100000"/>
              <a:buChar char="•"/>
            </a:pPr>
            <a:r>
              <a:rPr lang="en-US" sz="1300" dirty="0">
                <a:solidFill>
                  <a:srgbClr val="CBD5E1"/>
                </a:solidFill>
              </a:rPr>
              <a:t>The fallback file stores real deadlines and must be regenerated as they pass</a:t>
            </a:r>
            <a:endParaRPr lang="en-US" sz="1300" dirty="0"/>
          </a:p>
          <a:p>
            <a:pPr marL="342900" indent="-342900">
              <a:lnSpc>
                <a:spcPct val="115000"/>
              </a:lnSpc>
              <a:spcAft>
                <a:spcPts val="900"/>
              </a:spcAft>
              <a:buSzPct val="100000"/>
              <a:buChar char="•"/>
            </a:pPr>
            <a:r>
              <a:rPr lang="en-US" sz="1300" dirty="0">
                <a:solidFill>
                  <a:srgbClr val="CBD5E1"/>
                </a:solidFill>
              </a:rPr>
              <a:t>Level and tag classification is heuristic; it aids filtering, it is not authoritative</a:t>
            </a:r>
            <a:endParaRPr lang="en-US" sz="1300" dirty="0"/>
          </a:p>
        </p:txBody>
      </p:sp>
      <p:sp>
        <p:nvSpPr>
          <p:cNvPr id="6" name="Text 4"/>
          <p:cNvSpPr txBox="1"/>
          <p:nvPr/>
        </p:nvSpPr>
        <p:spPr>
          <a:xfrm>
            <a:off x="6327648" y="2084832"/>
            <a:ext cx="5212080" cy="365760"/>
          </a:xfrm>
          <a:prstGeom prst="rect">
            <a:avLst/>
          </a:prstGeom>
          <a:noFill/>
          <a:ln/>
        </p:spPr>
        <p:txBody>
          <a:bodyPr wrap="square" lIns="0" tIns="0" rIns="0" bIns="0" rtlCol="0" anchor="ctr"/>
          <a:lstStyle/>
          <a:p>
            <a:pPr indent="0" marL="0">
              <a:buNone/>
            </a:pPr>
            <a:r>
              <a:rPr lang="en-US" sz="1800" b="1" dirty="0">
                <a:solidFill>
                  <a:srgbClr val="0F766E"/>
                </a:solidFill>
              </a:rPr>
              <a:t>Future scope</a:t>
            </a:r>
            <a:endParaRPr lang="en-US" sz="1800" dirty="0"/>
          </a:p>
        </p:txBody>
      </p:sp>
      <p:sp>
        <p:nvSpPr>
          <p:cNvPr id="7" name="Text 5"/>
          <p:cNvSpPr txBox="1"/>
          <p:nvPr/>
        </p:nvSpPr>
        <p:spPr>
          <a:xfrm>
            <a:off x="6327648" y="2542032"/>
            <a:ext cx="5303520" cy="2468880"/>
          </a:xfrm>
          <a:prstGeom prst="rect">
            <a:avLst/>
          </a:prstGeom>
          <a:noFill/>
          <a:ln/>
        </p:spPr>
        <p:txBody>
          <a:bodyPr wrap="square" lIns="0" tIns="0" rIns="0" bIns="0" rtlCol="0" anchor="ctr"/>
          <a:lstStyle/>
          <a:p>
            <a:pPr marL="342900" indent="-342900">
              <a:lnSpc>
                <a:spcPct val="115000"/>
              </a:lnSpc>
              <a:spcAft>
                <a:spcPts val="900"/>
              </a:spcAft>
              <a:buSzPct val="100000"/>
              <a:buChar char="•"/>
            </a:pPr>
            <a:r>
              <a:rPr lang="en-US" sz="1300" dirty="0">
                <a:solidFill>
                  <a:srgbClr val="CBD5E1"/>
                </a:solidFill>
              </a:rPr>
              <a:t>State portals such as MahaDBT, through the same scraper interface</a:t>
            </a:r>
            <a:endParaRPr lang="en-US" sz="1300" dirty="0"/>
          </a:p>
          <a:p>
            <a:pPr marL="342900" indent="-342900">
              <a:lnSpc>
                <a:spcPct val="115000"/>
              </a:lnSpc>
              <a:spcAft>
                <a:spcPts val="900"/>
              </a:spcAft>
              <a:buSzPct val="100000"/>
              <a:buChar char="•"/>
            </a:pPr>
            <a:r>
              <a:rPr lang="en-US" sz="1300" dirty="0">
                <a:solidFill>
                  <a:srgbClr val="CBD5E1"/>
                </a:solidFill>
              </a:rPr>
              <a:t>Eligibility matching — the portfolio already holds category, income, level and marks</a:t>
            </a:r>
            <a:endParaRPr lang="en-US" sz="1300" dirty="0"/>
          </a:p>
          <a:p>
            <a:pPr marL="342900" indent="-342900">
              <a:lnSpc>
                <a:spcPct val="115000"/>
              </a:lnSpc>
              <a:spcAft>
                <a:spcPts val="900"/>
              </a:spcAft>
              <a:buSzPct val="100000"/>
              <a:buChar char="•"/>
            </a:pPr>
            <a:r>
              <a:rPr lang="en-US" sz="1300" dirty="0">
                <a:solidFill>
                  <a:srgbClr val="CBD5E1"/>
                </a:solidFill>
              </a:rPr>
              <a:t>Deadline notifications, using the countdown already computed</a:t>
            </a:r>
            <a:endParaRPr lang="en-US" sz="1300" dirty="0"/>
          </a:p>
          <a:p>
            <a:pPr marL="342900" indent="-342900">
              <a:lnSpc>
                <a:spcPct val="115000"/>
              </a:lnSpc>
              <a:spcAft>
                <a:spcPts val="900"/>
              </a:spcAft>
              <a:buSzPct val="100000"/>
              <a:buChar char="•"/>
            </a:pPr>
            <a:r>
              <a:rPr lang="en-US" sz="1300" dirty="0">
                <a:solidFill>
                  <a:srgbClr val="CBD5E1"/>
                </a:solidFill>
              </a:rPr>
              <a:t>Alerting when a portal’s markup changes, so a parser is repaired before a refresh returns nothing</a:t>
            </a:r>
            <a:endParaRPr lang="en-US" sz="1300" dirty="0"/>
          </a:p>
        </p:txBody>
      </p:sp>
      <p:sp>
        <p:nvSpPr>
          <p:cNvPr id="8" name="Text 6"/>
          <p:cNvSpPr txBox="1"/>
          <p:nvPr/>
        </p:nvSpPr>
        <p:spPr>
          <a:xfrm>
            <a:off x="566928" y="5715000"/>
            <a:ext cx="4572000" cy="457200"/>
          </a:xfrm>
          <a:prstGeom prst="rect">
            <a:avLst/>
          </a:prstGeom>
          <a:noFill/>
          <a:ln/>
        </p:spPr>
        <p:txBody>
          <a:bodyPr wrap="square" lIns="0" tIns="0" rIns="0" bIns="0" rtlCol="0" anchor="ctr"/>
          <a:lstStyle/>
          <a:p>
            <a:pPr indent="0" marL="0">
              <a:buNone/>
            </a:pPr>
            <a:r>
              <a:rPr lang="en-US" sz="2200" b="1" dirty="0">
                <a:solidFill>
                  <a:srgbClr val="FFFFFF"/>
                </a:solidFill>
              </a:rPr>
              <a:t>ScholarTrack</a:t>
            </a:r>
            <a:endParaRPr lang="en-US" sz="2200" dirty="0"/>
          </a:p>
        </p:txBody>
      </p:sp>
      <p:sp>
        <p:nvSpPr>
          <p:cNvPr id="9" name="Text 7"/>
          <p:cNvSpPr txBox="1"/>
          <p:nvPr/>
        </p:nvSpPr>
        <p:spPr>
          <a:xfrm>
            <a:off x="7050024" y="5806440"/>
            <a:ext cx="4572000" cy="365760"/>
          </a:xfrm>
          <a:prstGeom prst="rect">
            <a:avLst/>
          </a:prstGeom>
          <a:noFill/>
          <a:ln/>
        </p:spPr>
        <p:txBody>
          <a:bodyPr wrap="square" lIns="0" tIns="0" rIns="0" bIns="0" rtlCol="0" anchor="ctr"/>
          <a:lstStyle/>
          <a:p>
            <a:pPr algn="r" indent="0" marL="0">
              <a:buNone/>
            </a:pPr>
            <a:r>
              <a:rPr lang="en-US" sz="1400" dirty="0">
                <a:solidFill>
                  <a:srgbClr val="94A3B8"/>
                </a:solidFill>
              </a:rPr>
              <a:t>Thank you — questions welcome</a:t>
            </a:r>
            <a:endParaRPr lang="en-US" sz="1400" dirty="0"/>
          </a:p>
        </p:txBody>
      </p:sp>
      <p:sp>
        <p:nvSpPr>
          <p:cNvPr id="11" name="Text 0"/>
          <p:cNvSpPr/>
          <p:nvPr>
            <p:ph idx="100" type="title" hasCustomPrompt="1"/>
          </p:nvPr>
        </p:nvSpPr>
        <p:spPr>
          <a:xfrm>
            <a:off x="566928" y="2148840"/>
            <a:ext cx="11055096" cy="1371600"/>
          </a:xfrm>
          <a:prstGeom prst="rect">
            <a:avLst/>
          </a:prstGeom>
          <a:noFill/>
          <a:ln/>
        </p:spPr>
        <p:txBody>
          <a:bodyPr wrap="square" rtlCol="0"/>
          <a:lstStyle/>
          <a:p>
            <a:pPr algn="l" indent="0" marL="0">
              <a:buNone/>
            </a:pPr>
            <a:endParaRPr lang="en-US" sz="4800" dirty="0"/>
          </a:p>
        </p:txBody>
      </p:sp>
      <p:sp>
        <p:nvSpPr>
          <p:cNvPr id="12" name="Text 0"/>
          <p:cNvSpPr/>
          <p:nvPr>
            <p:ph idx="101" type="body" hasCustomPrompt="1"/>
          </p:nvPr>
        </p:nvSpPr>
        <p:spPr>
          <a:xfrm>
            <a:off x="566928" y="3611880"/>
            <a:ext cx="11055096" cy="1371600"/>
          </a:xfrm>
          <a:prstGeom prst="rect">
            <a:avLst/>
          </a:prstGeom>
          <a:noFill/>
          <a:ln/>
        </p:spPr>
        <p:txBody>
          <a:bodyPr wrap="square" rtlCol="0"/>
          <a:lstStyle/>
          <a:p>
            <a:pPr algn="l" indent="0" marL="0">
              <a:buNone/>
            </a:pPr>
            <a:endParaRPr lang="en-US" sz="1800" dirty="0"/>
          </a:p>
        </p:txBody>
      </p:sp>
    </p:spTree>
  </p:cSld>
  <p:clrMapOvr>
    <a:masterClrMapping/>
  </p:clrMapOvr>
</p:sld>
</file>

<file path=ppt/theme/theme1.xml><?xml version="1.0" encoding="utf-8"?>
<a:theme xmlns:a="http://schemas.openxmlformats.org/drawingml/2006/main" name="ScholarTrack">
  <a:themeElements>
    <a:clrScheme name="ScholarTrack">
      <a:dk1>
        <a:srgbClr val="0F172A"/>
      </a:dk1>
      <a:lt1>
        <a:srgbClr val="FFFFFF"/>
      </a:lt1>
      <a:dk2>
        <a:srgbClr val="1E293B"/>
      </a:dk2>
      <a:lt2>
        <a:srgbClr val="F1F5F9"/>
      </a:lt2>
      <a:accent1>
        <a:srgbClr val="4338CA"/>
      </a:accent1>
      <a:accent2>
        <a:srgbClr val="0F766E"/>
      </a:accent2>
      <a:accent3>
        <a:srgbClr val="B45309"/>
      </a:accent3>
      <a:accent4>
        <a:srgbClr val="64748B"/>
      </a:accent4>
      <a:accent5>
        <a:srgbClr val="6D28D9"/>
      </a:accent5>
      <a:accent6>
        <a:srgbClr val="047857"/>
      </a:accent6>
      <a:hlink>
        <a:srgbClr val="4338CA"/>
      </a:hlink>
      <a:folHlink>
        <a:srgbClr val="6D28D9"/>
      </a:folHlink>
    </a:clrScheme>
    <a:fontScheme name="ScholarTra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ScholarTrack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ScholarTrack — Scholarship Discovery and Application Tracker</dc:title>
  <dc:subject>PptxGenJS Presentation</dc:subject>
  <dc:creator>ScholarTrack</dc:creator>
  <cp:lastModifiedBy>ScholarTrack</cp:lastModifiedBy>
  <cp:revision>1</cp:revision>
  <dcterms:created xsi:type="dcterms:W3CDTF">2026-10-17T04:44:14Z</dcterms:created>
  <dcterms:modified xsi:type="dcterms:W3CDTF">2026-10-17T04:44:14Z</dcterms:modified>
</cp:coreProperties>
</file>